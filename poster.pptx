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0276800" cy="42799000"/>
  <p:notesSz cx="6858000" cy="9144000"/>
  <p:embeddedFontLst>
    <p:embeddedFont>
      <p:font typeface="Canva Sans" charset="1" panose="020B0503030501040103"/>
      <p:regular r:id="rId7"/>
    </p:embeddedFont>
    <p:embeddedFont>
      <p:font typeface="Canva Sans Bold" charset="1" panose="020B0803030501040103"/>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jpeg"/><Relationship Id="rId22" Type="http://schemas.openxmlformats.org/officeDocument/2006/relationships/image" Target="../media/image21.jpeg"/><Relationship Id="rId23" Type="http://schemas.openxmlformats.org/officeDocument/2006/relationships/image" Target="../media/image22.jpe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 Id="rId27" Type="http://schemas.openxmlformats.org/officeDocument/2006/relationships/image" Target="../media/image26.png"/><Relationship Id="rId28" Type="http://schemas.openxmlformats.org/officeDocument/2006/relationships/image" Target="../media/image27.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png"/><Relationship Id="rId36" Type="http://schemas.openxmlformats.org/officeDocument/2006/relationships/image" Target="../media/image35.png"/><Relationship Id="rId37" Type="http://schemas.openxmlformats.org/officeDocument/2006/relationships/image" Target="../media/image36.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C1E38"/>
        </a:solidFill>
      </p:bgPr>
    </p:bg>
    <p:spTree>
      <p:nvGrpSpPr>
        <p:cNvPr id="1" name=""/>
        <p:cNvGrpSpPr/>
        <p:nvPr/>
      </p:nvGrpSpPr>
      <p:grpSpPr>
        <a:xfrm>
          <a:off x="0" y="0"/>
          <a:ext cx="0" cy="0"/>
          <a:chOff x="0" y="0"/>
          <a:chExt cx="0" cy="0"/>
        </a:xfrm>
      </p:grpSpPr>
      <p:sp>
        <p:nvSpPr>
          <p:cNvPr name="Freeform 2" id="2"/>
          <p:cNvSpPr/>
          <p:nvPr/>
        </p:nvSpPr>
        <p:spPr>
          <a:xfrm flipH="false" flipV="false" rot="0">
            <a:off x="24948308" y="185603"/>
            <a:ext cx="5926123" cy="8381081"/>
          </a:xfrm>
          <a:custGeom>
            <a:avLst/>
            <a:gdLst/>
            <a:ahLst/>
            <a:cxnLst/>
            <a:rect r="r" b="b" t="t" l="l"/>
            <a:pathLst>
              <a:path h="8381081" w="5926123">
                <a:moveTo>
                  <a:pt x="0" y="0"/>
                </a:moveTo>
                <a:lnTo>
                  <a:pt x="5926123" y="0"/>
                </a:lnTo>
                <a:lnTo>
                  <a:pt x="5926123" y="8381081"/>
                </a:lnTo>
                <a:lnTo>
                  <a:pt x="0" y="8381081"/>
                </a:lnTo>
                <a:lnTo>
                  <a:pt x="0" y="0"/>
                </a:lnTo>
                <a:close/>
              </a:path>
            </a:pathLst>
          </a:custGeom>
          <a:blipFill>
            <a:blip r:embed="rId2"/>
            <a:stretch>
              <a:fillRect l="0" t="0" r="0" b="0"/>
            </a:stretch>
          </a:blipFill>
        </p:spPr>
      </p:sp>
      <p:sp>
        <p:nvSpPr>
          <p:cNvPr name="Freeform 3" id="3"/>
          <p:cNvSpPr/>
          <p:nvPr/>
        </p:nvSpPr>
        <p:spPr>
          <a:xfrm flipH="false" flipV="false" rot="259066">
            <a:off x="-388618" y="2297098"/>
            <a:ext cx="4208342" cy="3059701"/>
          </a:xfrm>
          <a:custGeom>
            <a:avLst/>
            <a:gdLst/>
            <a:ahLst/>
            <a:cxnLst/>
            <a:rect r="r" b="b" t="t" l="l"/>
            <a:pathLst>
              <a:path h="3059701" w="4208342">
                <a:moveTo>
                  <a:pt x="0" y="0"/>
                </a:moveTo>
                <a:lnTo>
                  <a:pt x="4208342" y="0"/>
                </a:lnTo>
                <a:lnTo>
                  <a:pt x="4208342" y="3059701"/>
                </a:lnTo>
                <a:lnTo>
                  <a:pt x="0" y="30597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4519" y="-259994"/>
            <a:ext cx="2011189" cy="2539207"/>
          </a:xfrm>
          <a:custGeom>
            <a:avLst/>
            <a:gdLst/>
            <a:ahLst/>
            <a:cxnLst/>
            <a:rect r="r" b="b" t="t" l="l"/>
            <a:pathLst>
              <a:path h="2539207" w="2011189">
                <a:moveTo>
                  <a:pt x="0" y="0"/>
                </a:moveTo>
                <a:lnTo>
                  <a:pt x="2011189" y="0"/>
                </a:lnTo>
                <a:lnTo>
                  <a:pt x="2011189" y="2539206"/>
                </a:lnTo>
                <a:lnTo>
                  <a:pt x="0" y="25392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7346727" y="0"/>
            <a:ext cx="2279212" cy="2279212"/>
          </a:xfrm>
          <a:custGeom>
            <a:avLst/>
            <a:gdLst/>
            <a:ahLst/>
            <a:cxnLst/>
            <a:rect r="r" b="b" t="t" l="l"/>
            <a:pathLst>
              <a:path h="2279212" w="2279212">
                <a:moveTo>
                  <a:pt x="0" y="0"/>
                </a:moveTo>
                <a:lnTo>
                  <a:pt x="2279212" y="0"/>
                </a:lnTo>
                <a:lnTo>
                  <a:pt x="2279212" y="2279212"/>
                </a:lnTo>
                <a:lnTo>
                  <a:pt x="0" y="2279212"/>
                </a:lnTo>
                <a:lnTo>
                  <a:pt x="0" y="0"/>
                </a:lnTo>
                <a:close/>
              </a:path>
            </a:pathLst>
          </a:custGeom>
          <a:blipFill>
            <a:blip r:embed="rId7"/>
            <a:stretch>
              <a:fillRect l="0" t="0" r="0" b="0"/>
            </a:stretch>
          </a:blipFill>
        </p:spPr>
      </p:sp>
      <p:grpSp>
        <p:nvGrpSpPr>
          <p:cNvPr name="Group 6" id="6"/>
          <p:cNvGrpSpPr/>
          <p:nvPr/>
        </p:nvGrpSpPr>
        <p:grpSpPr>
          <a:xfrm rot="0">
            <a:off x="-167454" y="7021307"/>
            <a:ext cx="30571387" cy="34827548"/>
            <a:chOff x="0" y="0"/>
            <a:chExt cx="2735767" cy="3116641"/>
          </a:xfrm>
        </p:grpSpPr>
        <p:sp>
          <p:nvSpPr>
            <p:cNvPr name="Freeform 7" id="7"/>
            <p:cNvSpPr/>
            <p:nvPr/>
          </p:nvSpPr>
          <p:spPr>
            <a:xfrm flipH="false" flipV="false" rot="0">
              <a:off x="0" y="0"/>
              <a:ext cx="2735767" cy="3116641"/>
            </a:xfrm>
            <a:custGeom>
              <a:avLst/>
              <a:gdLst/>
              <a:ahLst/>
              <a:cxnLst/>
              <a:rect r="r" b="b" t="t" l="l"/>
              <a:pathLst>
                <a:path h="3116641" w="2735767">
                  <a:moveTo>
                    <a:pt x="25324" y="0"/>
                  </a:moveTo>
                  <a:lnTo>
                    <a:pt x="2710443" y="0"/>
                  </a:lnTo>
                  <a:cubicBezTo>
                    <a:pt x="2717159" y="0"/>
                    <a:pt x="2723600" y="2668"/>
                    <a:pt x="2728350" y="7417"/>
                  </a:cubicBezTo>
                  <a:cubicBezTo>
                    <a:pt x="2733099" y="12166"/>
                    <a:pt x="2735767" y="18608"/>
                    <a:pt x="2735767" y="25324"/>
                  </a:cubicBezTo>
                  <a:lnTo>
                    <a:pt x="2735767" y="3091317"/>
                  </a:lnTo>
                  <a:cubicBezTo>
                    <a:pt x="2735767" y="3105303"/>
                    <a:pt x="2724429" y="3116641"/>
                    <a:pt x="2710443" y="3116641"/>
                  </a:cubicBezTo>
                  <a:lnTo>
                    <a:pt x="25324" y="3116641"/>
                  </a:lnTo>
                  <a:cubicBezTo>
                    <a:pt x="18608" y="3116641"/>
                    <a:pt x="12166" y="3113973"/>
                    <a:pt x="7417" y="3109224"/>
                  </a:cubicBezTo>
                  <a:cubicBezTo>
                    <a:pt x="2668" y="3104475"/>
                    <a:pt x="0" y="3098034"/>
                    <a:pt x="0" y="3091317"/>
                  </a:cubicBezTo>
                  <a:lnTo>
                    <a:pt x="0" y="25324"/>
                  </a:lnTo>
                  <a:cubicBezTo>
                    <a:pt x="0" y="18608"/>
                    <a:pt x="2668" y="12166"/>
                    <a:pt x="7417" y="7417"/>
                  </a:cubicBezTo>
                  <a:cubicBezTo>
                    <a:pt x="12166" y="2668"/>
                    <a:pt x="18608" y="0"/>
                    <a:pt x="25324" y="0"/>
                  </a:cubicBezTo>
                  <a:close/>
                </a:path>
              </a:pathLst>
            </a:custGeom>
            <a:solidFill>
              <a:srgbClr val="FEFDFD"/>
            </a:solidFill>
            <a:ln cap="rnd">
              <a:noFill/>
              <a:prstDash val="sysDot"/>
              <a:round/>
            </a:ln>
          </p:spPr>
        </p:sp>
        <p:sp>
          <p:nvSpPr>
            <p:cNvPr name="TextBox 8" id="8"/>
            <p:cNvSpPr txBox="true"/>
            <p:nvPr/>
          </p:nvSpPr>
          <p:spPr>
            <a:xfrm>
              <a:off x="0" y="-257175"/>
              <a:ext cx="2735767" cy="3373816"/>
            </a:xfrm>
            <a:prstGeom prst="rect">
              <a:avLst/>
            </a:prstGeom>
          </p:spPr>
          <p:txBody>
            <a:bodyPr anchor="ctr" rtlCol="false" tIns="50800" lIns="50800" bIns="50800" rIns="50800"/>
            <a:lstStyle/>
            <a:p>
              <a:pPr algn="ctr">
                <a:lnSpc>
                  <a:spcPts val="9379"/>
                </a:lnSpc>
              </a:pPr>
            </a:p>
          </p:txBody>
        </p:sp>
      </p:grpSp>
      <p:grpSp>
        <p:nvGrpSpPr>
          <p:cNvPr name="Group 9" id="9"/>
          <p:cNvGrpSpPr/>
          <p:nvPr/>
        </p:nvGrpSpPr>
        <p:grpSpPr>
          <a:xfrm rot="0">
            <a:off x="126467" y="8782676"/>
            <a:ext cx="10083933" cy="7186354"/>
            <a:chOff x="0" y="0"/>
            <a:chExt cx="902389" cy="643091"/>
          </a:xfrm>
        </p:grpSpPr>
        <p:sp>
          <p:nvSpPr>
            <p:cNvPr name="Freeform 10" id="10"/>
            <p:cNvSpPr/>
            <p:nvPr/>
          </p:nvSpPr>
          <p:spPr>
            <a:xfrm flipH="false" flipV="false" rot="0">
              <a:off x="0" y="0"/>
              <a:ext cx="902389" cy="643091"/>
            </a:xfrm>
            <a:custGeom>
              <a:avLst/>
              <a:gdLst/>
              <a:ahLst/>
              <a:cxnLst/>
              <a:rect r="r" b="b" t="t" l="l"/>
              <a:pathLst>
                <a:path h="643091" w="902389">
                  <a:moveTo>
                    <a:pt x="30710" y="0"/>
                  </a:moveTo>
                  <a:lnTo>
                    <a:pt x="871679" y="0"/>
                  </a:lnTo>
                  <a:cubicBezTo>
                    <a:pt x="888640" y="0"/>
                    <a:pt x="902389" y="13749"/>
                    <a:pt x="902389" y="30710"/>
                  </a:cubicBezTo>
                  <a:lnTo>
                    <a:pt x="902389" y="612381"/>
                  </a:lnTo>
                  <a:cubicBezTo>
                    <a:pt x="902389" y="620526"/>
                    <a:pt x="899154" y="628337"/>
                    <a:pt x="893394" y="634096"/>
                  </a:cubicBezTo>
                  <a:cubicBezTo>
                    <a:pt x="887635" y="639856"/>
                    <a:pt x="879824" y="643091"/>
                    <a:pt x="871679" y="643091"/>
                  </a:cubicBezTo>
                  <a:lnTo>
                    <a:pt x="30710" y="643091"/>
                  </a:lnTo>
                  <a:cubicBezTo>
                    <a:pt x="22565" y="643091"/>
                    <a:pt x="14754" y="639856"/>
                    <a:pt x="8995" y="634096"/>
                  </a:cubicBezTo>
                  <a:cubicBezTo>
                    <a:pt x="3236" y="628337"/>
                    <a:pt x="0" y="620526"/>
                    <a:pt x="0" y="612381"/>
                  </a:cubicBezTo>
                  <a:lnTo>
                    <a:pt x="0" y="30710"/>
                  </a:lnTo>
                  <a:cubicBezTo>
                    <a:pt x="0" y="22565"/>
                    <a:pt x="3236" y="14754"/>
                    <a:pt x="8995" y="8995"/>
                  </a:cubicBezTo>
                  <a:cubicBezTo>
                    <a:pt x="14754" y="3236"/>
                    <a:pt x="22565" y="0"/>
                    <a:pt x="30710" y="0"/>
                  </a:cubicBezTo>
                  <a:close/>
                </a:path>
              </a:pathLst>
            </a:custGeom>
            <a:ln w="190500" cap="rnd">
              <a:solidFill>
                <a:srgbClr val="124B9C"/>
              </a:solidFill>
              <a:prstDash val="solid"/>
              <a:round/>
            </a:ln>
          </p:spPr>
        </p:sp>
        <p:sp>
          <p:nvSpPr>
            <p:cNvPr name="TextBox 11" id="11"/>
            <p:cNvSpPr txBox="true"/>
            <p:nvPr/>
          </p:nvSpPr>
          <p:spPr>
            <a:xfrm>
              <a:off x="0" y="-57150"/>
              <a:ext cx="902389" cy="700241"/>
            </a:xfrm>
            <a:prstGeom prst="rect">
              <a:avLst/>
            </a:prstGeom>
          </p:spPr>
          <p:txBody>
            <a:bodyPr anchor="ctr" rtlCol="false" tIns="88900" lIns="88900" bIns="88900" rIns="88900"/>
            <a:lstStyle/>
            <a:p>
              <a:pPr algn="just">
                <a:lnSpc>
                  <a:spcPts val="3920"/>
                </a:lnSpc>
              </a:pPr>
              <a:r>
                <a:rPr lang="en-US" sz="2800">
                  <a:solidFill>
                    <a:srgbClr val="000000"/>
                  </a:solidFill>
                  <a:latin typeface="Canva Sans"/>
                  <a:ea typeface="Canva Sans"/>
                  <a:cs typeface="Canva Sans"/>
                  <a:sym typeface="Canva Sans"/>
                </a:rPr>
                <a:t>Model predictive control (</a:t>
              </a:r>
              <a:r>
                <a:rPr lang="en-US" b="true" sz="2800">
                  <a:solidFill>
                    <a:srgbClr val="000000"/>
                  </a:solidFill>
                  <a:latin typeface="Canva Sans Bold"/>
                  <a:ea typeface="Canva Sans Bold"/>
                  <a:cs typeface="Canva Sans Bold"/>
                  <a:sym typeface="Canva Sans Bold"/>
                </a:rPr>
                <a:t>MPC</a:t>
              </a:r>
              <a:r>
                <a:rPr lang="en-US" sz="2800">
                  <a:solidFill>
                    <a:srgbClr val="000000"/>
                  </a:solidFill>
                  <a:latin typeface="Canva Sans"/>
                  <a:ea typeface="Canva Sans"/>
                  <a:cs typeface="Canva Sans"/>
                  <a:sym typeface="Canva Sans"/>
                </a:rPr>
                <a:t>) needs a prediction model that is both fast and accurate. We train a physics-informed neural network for control (</a:t>
              </a:r>
              <a:r>
                <a:rPr lang="en-US" b="true" sz="2800">
                  <a:solidFill>
                    <a:srgbClr val="000000"/>
                  </a:solidFill>
                  <a:latin typeface="Canva Sans Bold"/>
                  <a:ea typeface="Canva Sans Bold"/>
                  <a:cs typeface="Canva Sans Bold"/>
                  <a:sym typeface="Canva Sans Bold"/>
                </a:rPr>
                <a:t>PINC</a:t>
              </a:r>
              <a:r>
                <a:rPr lang="en-US" sz="2800">
                  <a:solidFill>
                    <a:srgbClr val="000000"/>
                  </a:solidFill>
                  <a:latin typeface="Canva Sans"/>
                  <a:ea typeface="Canva Sans"/>
                  <a:cs typeface="Canva Sans"/>
                  <a:sym typeface="Canva Sans"/>
                </a:rPr>
                <a:t xml:space="preserve">) on a vehicle model with coupled speed and steering dynamics and use it inside MPC. Against the same network trained on data alone, the physics term made the learned dynamics </a:t>
              </a:r>
              <a:r>
                <a:rPr lang="en-US" b="true" sz="2800">
                  <a:solidFill>
                    <a:srgbClr val="000000"/>
                  </a:solidFill>
                  <a:latin typeface="Canva Sans Bold"/>
                  <a:ea typeface="Canva Sans Bold"/>
                  <a:cs typeface="Canva Sans Bold"/>
                  <a:sym typeface="Canva Sans Bold"/>
                </a:rPr>
                <a:t>13×</a:t>
              </a:r>
              <a:r>
                <a:rPr lang="en-US" sz="2800">
                  <a:solidFill>
                    <a:srgbClr val="000000"/>
                  </a:solidFill>
                  <a:latin typeface="Canva Sans"/>
                  <a:ea typeface="Canva Sans"/>
                  <a:cs typeface="Canva Sans"/>
                  <a:sym typeface="Canva Sans"/>
                </a:rPr>
                <a:t xml:space="preserve"> more accurate and cut 50-step prediction errors </a:t>
              </a:r>
              <a:r>
                <a:rPr lang="en-US" b="true" sz="2800">
                  <a:solidFill>
                    <a:srgbClr val="000000"/>
                  </a:solidFill>
                  <a:latin typeface="Canva Sans Bold"/>
                  <a:ea typeface="Canva Sans Bold"/>
                  <a:cs typeface="Canva Sans Bold"/>
                  <a:sym typeface="Canva Sans Bold"/>
                </a:rPr>
                <a:t>2.2×</a:t>
              </a:r>
              <a:r>
                <a:rPr lang="en-US" sz="2800">
                  <a:solidFill>
                    <a:srgbClr val="000000"/>
                  </a:solidFill>
                  <a:latin typeface="Canva Sans"/>
                  <a:ea typeface="Canva Sans"/>
                  <a:cs typeface="Canva Sans"/>
                  <a:sym typeface="Canva Sans"/>
                </a:rPr>
                <a:t xml:space="preserve"> (</a:t>
              </a:r>
              <a:r>
                <a:rPr lang="en-US" b="true" sz="2800">
                  <a:solidFill>
                    <a:srgbClr val="000000"/>
                  </a:solidFill>
                  <a:latin typeface="Canva Sans Bold"/>
                  <a:ea typeface="Canva Sans Bold"/>
                  <a:cs typeface="Canva Sans Bold"/>
                  <a:sym typeface="Canva Sans Bold"/>
                </a:rPr>
                <a:t>17×</a:t>
              </a:r>
              <a:r>
                <a:rPr lang="en-US" sz="2800">
                  <a:solidFill>
                    <a:srgbClr val="000000"/>
                  </a:solidFill>
                  <a:latin typeface="Canva Sans"/>
                  <a:ea typeface="Canva Sans"/>
                  <a:cs typeface="Canva Sans"/>
                  <a:sym typeface="Canva Sans"/>
                </a:rPr>
                <a:t xml:space="preserve"> with only 100 training trajectories). In closed loop, PINC-MPC tracked as well as an MPC using the exact model over four manoeuvres and </a:t>
              </a:r>
              <a:r>
                <a:rPr lang="en-US" b="true" sz="2800">
                  <a:solidFill>
                    <a:srgbClr val="000000"/>
                  </a:solidFill>
                  <a:latin typeface="Canva Sans Bold"/>
                  <a:ea typeface="Canva Sans Bold"/>
                  <a:cs typeface="Canva Sans Bold"/>
                  <a:sym typeface="Canva Sans Bold"/>
                </a:rPr>
                <a:t>30</a:t>
              </a:r>
              <a:r>
                <a:rPr lang="en-US" sz="2800">
                  <a:solidFill>
                    <a:srgbClr val="000000"/>
                  </a:solidFill>
                  <a:latin typeface="Canva Sans"/>
                  <a:ea typeface="Canva Sans"/>
                  <a:cs typeface="Canva Sans"/>
                  <a:sym typeface="Canva Sans"/>
                </a:rPr>
                <a:t xml:space="preserve"> noisy runs each.</a:t>
              </a:r>
            </a:p>
          </p:txBody>
        </p:sp>
      </p:grpSp>
      <p:grpSp>
        <p:nvGrpSpPr>
          <p:cNvPr name="Group 12" id="12"/>
          <p:cNvGrpSpPr/>
          <p:nvPr/>
        </p:nvGrpSpPr>
        <p:grpSpPr>
          <a:xfrm rot="0">
            <a:off x="2434652" y="7354140"/>
            <a:ext cx="4208858" cy="1404515"/>
            <a:chOff x="0" y="0"/>
            <a:chExt cx="376642" cy="125687"/>
          </a:xfrm>
        </p:grpSpPr>
        <p:sp>
          <p:nvSpPr>
            <p:cNvPr name="Freeform 13" id="13"/>
            <p:cNvSpPr/>
            <p:nvPr/>
          </p:nvSpPr>
          <p:spPr>
            <a:xfrm flipH="false" flipV="false" rot="0">
              <a:off x="0" y="0"/>
              <a:ext cx="376642" cy="125687"/>
            </a:xfrm>
            <a:custGeom>
              <a:avLst/>
              <a:gdLst/>
              <a:ahLst/>
              <a:cxnLst/>
              <a:rect r="r" b="b" t="t" l="l"/>
              <a:pathLst>
                <a:path h="125687" w="376642">
                  <a:moveTo>
                    <a:pt x="62843" y="0"/>
                  </a:moveTo>
                  <a:lnTo>
                    <a:pt x="313798" y="0"/>
                  </a:lnTo>
                  <a:cubicBezTo>
                    <a:pt x="330465" y="0"/>
                    <a:pt x="346450" y="6621"/>
                    <a:pt x="358235" y="18406"/>
                  </a:cubicBezTo>
                  <a:cubicBezTo>
                    <a:pt x="370021" y="30192"/>
                    <a:pt x="376642" y="46176"/>
                    <a:pt x="376642" y="62843"/>
                  </a:cubicBezTo>
                  <a:lnTo>
                    <a:pt x="376642" y="62843"/>
                  </a:lnTo>
                  <a:cubicBezTo>
                    <a:pt x="376642" y="97551"/>
                    <a:pt x="348506" y="125687"/>
                    <a:pt x="313798" y="125687"/>
                  </a:cubicBezTo>
                  <a:lnTo>
                    <a:pt x="62843" y="125687"/>
                  </a:lnTo>
                  <a:cubicBezTo>
                    <a:pt x="46176" y="125687"/>
                    <a:pt x="30192" y="119066"/>
                    <a:pt x="18406" y="107281"/>
                  </a:cubicBezTo>
                  <a:cubicBezTo>
                    <a:pt x="6621" y="95495"/>
                    <a:pt x="0" y="79511"/>
                    <a:pt x="0" y="62843"/>
                  </a:cubicBezTo>
                  <a:lnTo>
                    <a:pt x="0" y="62843"/>
                  </a:lnTo>
                  <a:cubicBezTo>
                    <a:pt x="0" y="46176"/>
                    <a:pt x="6621" y="30192"/>
                    <a:pt x="18406" y="18406"/>
                  </a:cubicBezTo>
                  <a:cubicBezTo>
                    <a:pt x="30192" y="6621"/>
                    <a:pt x="46176" y="0"/>
                    <a:pt x="62843" y="0"/>
                  </a:cubicBezTo>
                  <a:close/>
                </a:path>
              </a:pathLst>
            </a:custGeom>
            <a:solidFill>
              <a:srgbClr val="0C1E38"/>
            </a:solidFill>
          </p:spPr>
        </p:sp>
        <p:sp>
          <p:nvSpPr>
            <p:cNvPr name="TextBox 14" id="14"/>
            <p:cNvSpPr txBox="true"/>
            <p:nvPr/>
          </p:nvSpPr>
          <p:spPr>
            <a:xfrm>
              <a:off x="0" y="0"/>
              <a:ext cx="376642" cy="125687"/>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Abstract</a:t>
              </a:r>
            </a:p>
          </p:txBody>
        </p:sp>
      </p:grpSp>
      <p:grpSp>
        <p:nvGrpSpPr>
          <p:cNvPr name="Group 15" id="15"/>
          <p:cNvGrpSpPr/>
          <p:nvPr/>
        </p:nvGrpSpPr>
        <p:grpSpPr>
          <a:xfrm rot="0">
            <a:off x="988520" y="16139150"/>
            <a:ext cx="8231462" cy="1404515"/>
            <a:chOff x="0" y="0"/>
            <a:chExt cx="736616" cy="125687"/>
          </a:xfrm>
        </p:grpSpPr>
        <p:sp>
          <p:nvSpPr>
            <p:cNvPr name="Freeform 16" id="16"/>
            <p:cNvSpPr/>
            <p:nvPr/>
          </p:nvSpPr>
          <p:spPr>
            <a:xfrm flipH="false" flipV="false" rot="0">
              <a:off x="0" y="0"/>
              <a:ext cx="736616" cy="125687"/>
            </a:xfrm>
            <a:custGeom>
              <a:avLst/>
              <a:gdLst/>
              <a:ahLst/>
              <a:cxnLst/>
              <a:rect r="r" b="b" t="t" l="l"/>
              <a:pathLst>
                <a:path h="125687" w="736616">
                  <a:moveTo>
                    <a:pt x="62843" y="0"/>
                  </a:moveTo>
                  <a:lnTo>
                    <a:pt x="673772" y="0"/>
                  </a:lnTo>
                  <a:cubicBezTo>
                    <a:pt x="690439" y="0"/>
                    <a:pt x="706424" y="6621"/>
                    <a:pt x="718209" y="18406"/>
                  </a:cubicBezTo>
                  <a:cubicBezTo>
                    <a:pt x="729995" y="30192"/>
                    <a:pt x="736616" y="46176"/>
                    <a:pt x="736616" y="62843"/>
                  </a:cubicBezTo>
                  <a:lnTo>
                    <a:pt x="736616" y="62843"/>
                  </a:lnTo>
                  <a:cubicBezTo>
                    <a:pt x="736616" y="97551"/>
                    <a:pt x="708480" y="125687"/>
                    <a:pt x="673772" y="125687"/>
                  </a:cubicBezTo>
                  <a:lnTo>
                    <a:pt x="62843" y="125687"/>
                  </a:lnTo>
                  <a:cubicBezTo>
                    <a:pt x="46176" y="125687"/>
                    <a:pt x="30192" y="119066"/>
                    <a:pt x="18406" y="107281"/>
                  </a:cubicBezTo>
                  <a:cubicBezTo>
                    <a:pt x="6621" y="95495"/>
                    <a:pt x="0" y="79511"/>
                    <a:pt x="0" y="62843"/>
                  </a:cubicBezTo>
                  <a:lnTo>
                    <a:pt x="0" y="62843"/>
                  </a:lnTo>
                  <a:cubicBezTo>
                    <a:pt x="0" y="46176"/>
                    <a:pt x="6621" y="30192"/>
                    <a:pt x="18406" y="18406"/>
                  </a:cubicBezTo>
                  <a:cubicBezTo>
                    <a:pt x="30192" y="6621"/>
                    <a:pt x="46176" y="0"/>
                    <a:pt x="62843" y="0"/>
                  </a:cubicBezTo>
                  <a:close/>
                </a:path>
              </a:pathLst>
            </a:custGeom>
            <a:solidFill>
              <a:srgbClr val="0C1E38"/>
            </a:solidFill>
          </p:spPr>
        </p:sp>
        <p:sp>
          <p:nvSpPr>
            <p:cNvPr name="TextBox 17" id="17"/>
            <p:cNvSpPr txBox="true"/>
            <p:nvPr/>
          </p:nvSpPr>
          <p:spPr>
            <a:xfrm>
              <a:off x="0" y="0"/>
              <a:ext cx="736616" cy="125687"/>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Problem Definition</a:t>
              </a:r>
            </a:p>
          </p:txBody>
        </p:sp>
      </p:grpSp>
      <p:grpSp>
        <p:nvGrpSpPr>
          <p:cNvPr name="Group 18" id="18"/>
          <p:cNvGrpSpPr/>
          <p:nvPr/>
        </p:nvGrpSpPr>
        <p:grpSpPr>
          <a:xfrm rot="0">
            <a:off x="126467" y="17693637"/>
            <a:ext cx="9955568" cy="11504311"/>
            <a:chOff x="0" y="0"/>
            <a:chExt cx="890902" cy="1029496"/>
          </a:xfrm>
        </p:grpSpPr>
        <p:sp>
          <p:nvSpPr>
            <p:cNvPr name="Freeform 19" id="19"/>
            <p:cNvSpPr/>
            <p:nvPr/>
          </p:nvSpPr>
          <p:spPr>
            <a:xfrm flipH="false" flipV="false" rot="0">
              <a:off x="0" y="0"/>
              <a:ext cx="890902" cy="1029496"/>
            </a:xfrm>
            <a:custGeom>
              <a:avLst/>
              <a:gdLst/>
              <a:ahLst/>
              <a:cxnLst/>
              <a:rect r="r" b="b" t="t" l="l"/>
              <a:pathLst>
                <a:path h="1029496" w="890902">
                  <a:moveTo>
                    <a:pt x="21774" y="0"/>
                  </a:moveTo>
                  <a:lnTo>
                    <a:pt x="869128" y="0"/>
                  </a:lnTo>
                  <a:cubicBezTo>
                    <a:pt x="881153" y="0"/>
                    <a:pt x="890902" y="9749"/>
                    <a:pt x="890902" y="21774"/>
                  </a:cubicBezTo>
                  <a:lnTo>
                    <a:pt x="890902" y="1007722"/>
                  </a:lnTo>
                  <a:cubicBezTo>
                    <a:pt x="890902" y="1013496"/>
                    <a:pt x="888608" y="1019035"/>
                    <a:pt x="884525" y="1023118"/>
                  </a:cubicBezTo>
                  <a:cubicBezTo>
                    <a:pt x="880441" y="1027202"/>
                    <a:pt x="874903" y="1029496"/>
                    <a:pt x="869128" y="1029496"/>
                  </a:cubicBezTo>
                  <a:lnTo>
                    <a:pt x="21774" y="1029496"/>
                  </a:lnTo>
                  <a:cubicBezTo>
                    <a:pt x="15999" y="1029496"/>
                    <a:pt x="10461" y="1027202"/>
                    <a:pt x="6377" y="1023118"/>
                  </a:cubicBezTo>
                  <a:cubicBezTo>
                    <a:pt x="2294" y="1019035"/>
                    <a:pt x="0" y="1013496"/>
                    <a:pt x="0" y="1007722"/>
                  </a:cubicBezTo>
                  <a:lnTo>
                    <a:pt x="0" y="21774"/>
                  </a:lnTo>
                  <a:cubicBezTo>
                    <a:pt x="0" y="15999"/>
                    <a:pt x="2294" y="10461"/>
                    <a:pt x="6377" y="6377"/>
                  </a:cubicBezTo>
                  <a:cubicBezTo>
                    <a:pt x="10461" y="2294"/>
                    <a:pt x="15999" y="0"/>
                    <a:pt x="21774" y="0"/>
                  </a:cubicBezTo>
                  <a:close/>
                </a:path>
              </a:pathLst>
            </a:custGeom>
            <a:ln w="190500" cap="rnd">
              <a:solidFill>
                <a:srgbClr val="124B9C"/>
              </a:solidFill>
              <a:prstDash val="solid"/>
              <a:round/>
            </a:ln>
          </p:spPr>
        </p:sp>
        <p:sp>
          <p:nvSpPr>
            <p:cNvPr name="TextBox 20" id="20"/>
            <p:cNvSpPr txBox="true"/>
            <p:nvPr/>
          </p:nvSpPr>
          <p:spPr>
            <a:xfrm>
              <a:off x="0" y="-57150"/>
              <a:ext cx="890902" cy="1086646"/>
            </a:xfrm>
            <a:prstGeom prst="rect">
              <a:avLst/>
            </a:prstGeom>
          </p:spPr>
          <p:txBody>
            <a:bodyPr anchor="ctr" rtlCol="false" tIns="50800" lIns="50800" bIns="50800" rIns="50800"/>
            <a:lstStyle/>
            <a:p>
              <a:pPr algn="just">
                <a:lnSpc>
                  <a:spcPts val="4060"/>
                </a:lnSpc>
              </a:pPr>
            </a:p>
          </p:txBody>
        </p:sp>
      </p:grpSp>
      <p:grpSp>
        <p:nvGrpSpPr>
          <p:cNvPr name="Group 21" id="21"/>
          <p:cNvGrpSpPr/>
          <p:nvPr/>
        </p:nvGrpSpPr>
        <p:grpSpPr>
          <a:xfrm rot="0">
            <a:off x="677983" y="29350348"/>
            <a:ext cx="8971794" cy="1404515"/>
            <a:chOff x="0" y="0"/>
            <a:chExt cx="802866" cy="125687"/>
          </a:xfrm>
        </p:grpSpPr>
        <p:sp>
          <p:nvSpPr>
            <p:cNvPr name="Freeform 22" id="22"/>
            <p:cNvSpPr/>
            <p:nvPr/>
          </p:nvSpPr>
          <p:spPr>
            <a:xfrm flipH="false" flipV="false" rot="0">
              <a:off x="0" y="0"/>
              <a:ext cx="802866" cy="125687"/>
            </a:xfrm>
            <a:custGeom>
              <a:avLst/>
              <a:gdLst/>
              <a:ahLst/>
              <a:cxnLst/>
              <a:rect r="r" b="b" t="t" l="l"/>
              <a:pathLst>
                <a:path h="125687" w="802866">
                  <a:moveTo>
                    <a:pt x="62843" y="0"/>
                  </a:moveTo>
                  <a:lnTo>
                    <a:pt x="740023" y="0"/>
                  </a:lnTo>
                  <a:cubicBezTo>
                    <a:pt x="774730" y="0"/>
                    <a:pt x="802866" y="28136"/>
                    <a:pt x="802866" y="62843"/>
                  </a:cubicBezTo>
                  <a:lnTo>
                    <a:pt x="802866" y="62843"/>
                  </a:lnTo>
                  <a:cubicBezTo>
                    <a:pt x="802866" y="79511"/>
                    <a:pt x="796245" y="95495"/>
                    <a:pt x="784460" y="107281"/>
                  </a:cubicBezTo>
                  <a:cubicBezTo>
                    <a:pt x="772674" y="119066"/>
                    <a:pt x="756690" y="125687"/>
                    <a:pt x="740023" y="125687"/>
                  </a:cubicBezTo>
                  <a:lnTo>
                    <a:pt x="62843" y="125687"/>
                  </a:lnTo>
                  <a:cubicBezTo>
                    <a:pt x="46176" y="125687"/>
                    <a:pt x="30192" y="119066"/>
                    <a:pt x="18406" y="107281"/>
                  </a:cubicBezTo>
                  <a:cubicBezTo>
                    <a:pt x="6621" y="95495"/>
                    <a:pt x="0" y="79511"/>
                    <a:pt x="0" y="62843"/>
                  </a:cubicBezTo>
                  <a:lnTo>
                    <a:pt x="0" y="62843"/>
                  </a:lnTo>
                  <a:cubicBezTo>
                    <a:pt x="0" y="46176"/>
                    <a:pt x="6621" y="30192"/>
                    <a:pt x="18406" y="18406"/>
                  </a:cubicBezTo>
                  <a:cubicBezTo>
                    <a:pt x="30192" y="6621"/>
                    <a:pt x="46176" y="0"/>
                    <a:pt x="62843" y="0"/>
                  </a:cubicBezTo>
                  <a:close/>
                </a:path>
              </a:pathLst>
            </a:custGeom>
            <a:solidFill>
              <a:srgbClr val="0C1E38"/>
            </a:solidFill>
          </p:spPr>
        </p:sp>
        <p:sp>
          <p:nvSpPr>
            <p:cNvPr name="TextBox 23" id="23"/>
            <p:cNvSpPr txBox="true"/>
            <p:nvPr/>
          </p:nvSpPr>
          <p:spPr>
            <a:xfrm>
              <a:off x="0" y="0"/>
              <a:ext cx="802866" cy="125687"/>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Literature Review</a:t>
              </a:r>
            </a:p>
          </p:txBody>
        </p:sp>
      </p:grpSp>
      <p:grpSp>
        <p:nvGrpSpPr>
          <p:cNvPr name="Group 24" id="24"/>
          <p:cNvGrpSpPr/>
          <p:nvPr/>
        </p:nvGrpSpPr>
        <p:grpSpPr>
          <a:xfrm rot="0">
            <a:off x="126467" y="30935022"/>
            <a:ext cx="10260368" cy="9821911"/>
            <a:chOff x="0" y="0"/>
            <a:chExt cx="918178" cy="878941"/>
          </a:xfrm>
        </p:grpSpPr>
        <p:sp>
          <p:nvSpPr>
            <p:cNvPr name="Freeform 25" id="25"/>
            <p:cNvSpPr/>
            <p:nvPr/>
          </p:nvSpPr>
          <p:spPr>
            <a:xfrm flipH="false" flipV="false" rot="0">
              <a:off x="0" y="0"/>
              <a:ext cx="918178" cy="878941"/>
            </a:xfrm>
            <a:custGeom>
              <a:avLst/>
              <a:gdLst/>
              <a:ahLst/>
              <a:cxnLst/>
              <a:rect r="r" b="b" t="t" l="l"/>
              <a:pathLst>
                <a:path h="878941" w="918178">
                  <a:moveTo>
                    <a:pt x="29427" y="0"/>
                  </a:moveTo>
                  <a:lnTo>
                    <a:pt x="888751" y="0"/>
                  </a:lnTo>
                  <a:cubicBezTo>
                    <a:pt x="905003" y="0"/>
                    <a:pt x="918178" y="13175"/>
                    <a:pt x="918178" y="29427"/>
                  </a:cubicBezTo>
                  <a:lnTo>
                    <a:pt x="918178" y="849514"/>
                  </a:lnTo>
                  <a:cubicBezTo>
                    <a:pt x="918178" y="865766"/>
                    <a:pt x="905003" y="878941"/>
                    <a:pt x="888751" y="878941"/>
                  </a:cubicBezTo>
                  <a:lnTo>
                    <a:pt x="29427" y="878941"/>
                  </a:lnTo>
                  <a:cubicBezTo>
                    <a:pt x="21623" y="878941"/>
                    <a:pt x="14138" y="875841"/>
                    <a:pt x="8619" y="870322"/>
                  </a:cubicBezTo>
                  <a:cubicBezTo>
                    <a:pt x="3100" y="864804"/>
                    <a:pt x="0" y="857319"/>
                    <a:pt x="0" y="849514"/>
                  </a:cubicBezTo>
                  <a:lnTo>
                    <a:pt x="0" y="29427"/>
                  </a:lnTo>
                  <a:cubicBezTo>
                    <a:pt x="0" y="21623"/>
                    <a:pt x="3100" y="14138"/>
                    <a:pt x="8619" y="8619"/>
                  </a:cubicBezTo>
                  <a:cubicBezTo>
                    <a:pt x="14138" y="3100"/>
                    <a:pt x="21623" y="0"/>
                    <a:pt x="29427" y="0"/>
                  </a:cubicBezTo>
                  <a:close/>
                </a:path>
              </a:pathLst>
            </a:custGeom>
            <a:ln w="180975" cap="rnd">
              <a:solidFill>
                <a:srgbClr val="124B9C"/>
              </a:solidFill>
              <a:prstDash val="solid"/>
              <a:round/>
            </a:ln>
          </p:spPr>
        </p:sp>
        <p:sp>
          <p:nvSpPr>
            <p:cNvPr name="TextBox 26" id="26"/>
            <p:cNvSpPr txBox="true"/>
            <p:nvPr/>
          </p:nvSpPr>
          <p:spPr>
            <a:xfrm>
              <a:off x="0" y="-57150"/>
              <a:ext cx="918178" cy="936091"/>
            </a:xfrm>
            <a:prstGeom prst="rect">
              <a:avLst/>
            </a:prstGeom>
          </p:spPr>
          <p:txBody>
            <a:bodyPr anchor="ctr" rtlCol="false" tIns="50800" lIns="50800" bIns="50800" rIns="50800"/>
            <a:lstStyle/>
            <a:p>
              <a:pPr algn="just">
                <a:lnSpc>
                  <a:spcPts val="4200"/>
                </a:lnSpc>
              </a:pPr>
              <a:r>
                <a:rPr lang="en-US" sz="3000">
                  <a:solidFill>
                    <a:srgbClr val="000000"/>
                  </a:solidFill>
                  <a:latin typeface="Canva Sans"/>
                  <a:ea typeface="Canva Sans"/>
                  <a:cs typeface="Canva Sans"/>
                  <a:sym typeface="Canva Sans"/>
                </a:rPr>
                <a:t>.                                                                            </a:t>
              </a:r>
            </a:p>
          </p:txBody>
        </p:sp>
      </p:grpSp>
      <p:grpSp>
        <p:nvGrpSpPr>
          <p:cNvPr name="Group 27" id="27"/>
          <p:cNvGrpSpPr/>
          <p:nvPr/>
        </p:nvGrpSpPr>
        <p:grpSpPr>
          <a:xfrm rot="0">
            <a:off x="5557552" y="39038465"/>
            <a:ext cx="1972608" cy="2595140"/>
            <a:chOff x="0" y="0"/>
            <a:chExt cx="176524" cy="232233"/>
          </a:xfrm>
        </p:grpSpPr>
        <p:sp>
          <p:nvSpPr>
            <p:cNvPr name="Freeform 28" id="28"/>
            <p:cNvSpPr/>
            <p:nvPr/>
          </p:nvSpPr>
          <p:spPr>
            <a:xfrm flipH="false" flipV="false" rot="0">
              <a:off x="0" y="0"/>
              <a:ext cx="176524" cy="232233"/>
            </a:xfrm>
            <a:custGeom>
              <a:avLst/>
              <a:gdLst/>
              <a:ahLst/>
              <a:cxnLst/>
              <a:rect r="r" b="b" t="t" l="l"/>
              <a:pathLst>
                <a:path h="232233" w="176524">
                  <a:moveTo>
                    <a:pt x="0" y="0"/>
                  </a:moveTo>
                  <a:lnTo>
                    <a:pt x="176524" y="0"/>
                  </a:lnTo>
                  <a:lnTo>
                    <a:pt x="176524" y="232233"/>
                  </a:lnTo>
                  <a:lnTo>
                    <a:pt x="0" y="232233"/>
                  </a:lnTo>
                  <a:close/>
                </a:path>
              </a:pathLst>
            </a:custGeom>
          </p:spPr>
        </p:sp>
        <p:sp>
          <p:nvSpPr>
            <p:cNvPr name="TextBox 29" id="29"/>
            <p:cNvSpPr txBox="true"/>
            <p:nvPr/>
          </p:nvSpPr>
          <p:spPr>
            <a:xfrm>
              <a:off x="0" y="-38100"/>
              <a:ext cx="176524" cy="270333"/>
            </a:xfrm>
            <a:prstGeom prst="rect">
              <a:avLst/>
            </a:prstGeom>
          </p:spPr>
          <p:txBody>
            <a:bodyPr anchor="ctr" rtlCol="false" tIns="50800" lIns="50800" bIns="50800" rIns="50800"/>
            <a:lstStyle/>
            <a:p>
              <a:pPr algn="ctr">
                <a:lnSpc>
                  <a:spcPts val="3359"/>
                </a:lnSpc>
              </a:pPr>
              <a:r>
                <a:rPr lang="en-US" sz="2400">
                  <a:solidFill>
                    <a:srgbClr val="000000"/>
                  </a:solidFill>
                  <a:latin typeface="Canva Sans"/>
                  <a:ea typeface="Canva Sans"/>
                  <a:cs typeface="Canva Sans"/>
                  <a:sym typeface="Canva Sans"/>
                </a:rPr>
                <a:t>Figure 2</a:t>
              </a:r>
            </a:p>
          </p:txBody>
        </p:sp>
      </p:grpSp>
      <p:sp>
        <p:nvSpPr>
          <p:cNvPr name="Freeform 30" id="30"/>
          <p:cNvSpPr/>
          <p:nvPr/>
        </p:nvSpPr>
        <p:spPr>
          <a:xfrm flipH="false" flipV="false" rot="0">
            <a:off x="3867730" y="36583239"/>
            <a:ext cx="5352253" cy="3517292"/>
          </a:xfrm>
          <a:custGeom>
            <a:avLst/>
            <a:gdLst/>
            <a:ahLst/>
            <a:cxnLst/>
            <a:rect r="r" b="b" t="t" l="l"/>
            <a:pathLst>
              <a:path h="3517292" w="5352253">
                <a:moveTo>
                  <a:pt x="0" y="0"/>
                </a:moveTo>
                <a:lnTo>
                  <a:pt x="5352252" y="0"/>
                </a:lnTo>
                <a:lnTo>
                  <a:pt x="5352252" y="3517292"/>
                </a:lnTo>
                <a:lnTo>
                  <a:pt x="0" y="3517292"/>
                </a:lnTo>
                <a:lnTo>
                  <a:pt x="0" y="0"/>
                </a:lnTo>
                <a:close/>
              </a:path>
            </a:pathLst>
          </a:custGeom>
          <a:blipFill>
            <a:blip r:embed="rId8"/>
            <a:stretch>
              <a:fillRect l="-5303" t="-3379" r="0" b="-3379"/>
            </a:stretch>
          </a:blipFill>
        </p:spPr>
      </p:sp>
      <p:grpSp>
        <p:nvGrpSpPr>
          <p:cNvPr name="Group 31" id="31"/>
          <p:cNvGrpSpPr/>
          <p:nvPr/>
        </p:nvGrpSpPr>
        <p:grpSpPr>
          <a:xfrm rot="0">
            <a:off x="13116741" y="22066287"/>
            <a:ext cx="4787953" cy="1483775"/>
            <a:chOff x="0" y="0"/>
            <a:chExt cx="428463" cy="132780"/>
          </a:xfrm>
        </p:grpSpPr>
        <p:sp>
          <p:nvSpPr>
            <p:cNvPr name="Freeform 32" id="32"/>
            <p:cNvSpPr/>
            <p:nvPr/>
          </p:nvSpPr>
          <p:spPr>
            <a:xfrm flipH="false" flipV="false" rot="0">
              <a:off x="0" y="0"/>
              <a:ext cx="428463" cy="132780"/>
            </a:xfrm>
            <a:custGeom>
              <a:avLst/>
              <a:gdLst/>
              <a:ahLst/>
              <a:cxnLst/>
              <a:rect r="r" b="b" t="t" l="l"/>
              <a:pathLst>
                <a:path h="132780" w="428463">
                  <a:moveTo>
                    <a:pt x="66390" y="0"/>
                  </a:moveTo>
                  <a:lnTo>
                    <a:pt x="362074" y="0"/>
                  </a:lnTo>
                  <a:cubicBezTo>
                    <a:pt x="379681" y="0"/>
                    <a:pt x="396568" y="6995"/>
                    <a:pt x="409018" y="19445"/>
                  </a:cubicBezTo>
                  <a:cubicBezTo>
                    <a:pt x="421469" y="31896"/>
                    <a:pt x="428463" y="48782"/>
                    <a:pt x="428463" y="66390"/>
                  </a:cubicBezTo>
                  <a:lnTo>
                    <a:pt x="428463" y="66390"/>
                  </a:lnTo>
                  <a:cubicBezTo>
                    <a:pt x="428463" y="83998"/>
                    <a:pt x="421469" y="100884"/>
                    <a:pt x="409018" y="113335"/>
                  </a:cubicBezTo>
                  <a:cubicBezTo>
                    <a:pt x="396568" y="125785"/>
                    <a:pt x="379681" y="132780"/>
                    <a:pt x="362074" y="132780"/>
                  </a:cubicBezTo>
                  <a:lnTo>
                    <a:pt x="66390" y="132780"/>
                  </a:lnTo>
                  <a:cubicBezTo>
                    <a:pt x="48782" y="132780"/>
                    <a:pt x="31896" y="125785"/>
                    <a:pt x="19445" y="113335"/>
                  </a:cubicBezTo>
                  <a:cubicBezTo>
                    <a:pt x="6995" y="100884"/>
                    <a:pt x="0" y="83998"/>
                    <a:pt x="0" y="66390"/>
                  </a:cubicBezTo>
                  <a:lnTo>
                    <a:pt x="0" y="66390"/>
                  </a:lnTo>
                  <a:cubicBezTo>
                    <a:pt x="0" y="48782"/>
                    <a:pt x="6995" y="31896"/>
                    <a:pt x="19445" y="19445"/>
                  </a:cubicBezTo>
                  <a:cubicBezTo>
                    <a:pt x="31896" y="6995"/>
                    <a:pt x="48782" y="0"/>
                    <a:pt x="66390" y="0"/>
                  </a:cubicBezTo>
                  <a:close/>
                </a:path>
              </a:pathLst>
            </a:custGeom>
            <a:solidFill>
              <a:srgbClr val="0C1E38"/>
            </a:solidFill>
          </p:spPr>
        </p:sp>
        <p:sp>
          <p:nvSpPr>
            <p:cNvPr name="TextBox 33" id="33"/>
            <p:cNvSpPr txBox="true"/>
            <p:nvPr/>
          </p:nvSpPr>
          <p:spPr>
            <a:xfrm>
              <a:off x="0" y="0"/>
              <a:ext cx="428463" cy="132780"/>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Results</a:t>
              </a:r>
            </a:p>
          </p:txBody>
        </p:sp>
      </p:grpSp>
      <p:grpSp>
        <p:nvGrpSpPr>
          <p:cNvPr name="Group 34" id="34"/>
          <p:cNvGrpSpPr/>
          <p:nvPr/>
        </p:nvGrpSpPr>
        <p:grpSpPr>
          <a:xfrm rot="0">
            <a:off x="10482085" y="7475556"/>
            <a:ext cx="10148602" cy="1404515"/>
            <a:chOff x="0" y="0"/>
            <a:chExt cx="908176" cy="125687"/>
          </a:xfrm>
        </p:grpSpPr>
        <p:sp>
          <p:nvSpPr>
            <p:cNvPr name="Freeform 35" id="35"/>
            <p:cNvSpPr/>
            <p:nvPr/>
          </p:nvSpPr>
          <p:spPr>
            <a:xfrm flipH="false" flipV="false" rot="0">
              <a:off x="0" y="0"/>
              <a:ext cx="908176" cy="125687"/>
            </a:xfrm>
            <a:custGeom>
              <a:avLst/>
              <a:gdLst/>
              <a:ahLst/>
              <a:cxnLst/>
              <a:rect r="r" b="b" t="t" l="l"/>
              <a:pathLst>
                <a:path h="125687" w="908176">
                  <a:moveTo>
                    <a:pt x="62843" y="0"/>
                  </a:moveTo>
                  <a:lnTo>
                    <a:pt x="845333" y="0"/>
                  </a:lnTo>
                  <a:cubicBezTo>
                    <a:pt x="880040" y="0"/>
                    <a:pt x="908176" y="28136"/>
                    <a:pt x="908176" y="62843"/>
                  </a:cubicBezTo>
                  <a:lnTo>
                    <a:pt x="908176" y="62843"/>
                  </a:lnTo>
                  <a:cubicBezTo>
                    <a:pt x="908176" y="79511"/>
                    <a:pt x="901555" y="95495"/>
                    <a:pt x="889770" y="107281"/>
                  </a:cubicBezTo>
                  <a:cubicBezTo>
                    <a:pt x="877984" y="119066"/>
                    <a:pt x="862000" y="125687"/>
                    <a:pt x="845333" y="125687"/>
                  </a:cubicBezTo>
                  <a:lnTo>
                    <a:pt x="62843" y="125687"/>
                  </a:lnTo>
                  <a:cubicBezTo>
                    <a:pt x="46176" y="125687"/>
                    <a:pt x="30192" y="119066"/>
                    <a:pt x="18406" y="107281"/>
                  </a:cubicBezTo>
                  <a:cubicBezTo>
                    <a:pt x="6621" y="95495"/>
                    <a:pt x="0" y="79511"/>
                    <a:pt x="0" y="62843"/>
                  </a:cubicBezTo>
                  <a:lnTo>
                    <a:pt x="0" y="62843"/>
                  </a:lnTo>
                  <a:cubicBezTo>
                    <a:pt x="0" y="46176"/>
                    <a:pt x="6621" y="30192"/>
                    <a:pt x="18406" y="18406"/>
                  </a:cubicBezTo>
                  <a:cubicBezTo>
                    <a:pt x="30192" y="6621"/>
                    <a:pt x="46176" y="0"/>
                    <a:pt x="62843" y="0"/>
                  </a:cubicBezTo>
                  <a:close/>
                </a:path>
              </a:pathLst>
            </a:custGeom>
            <a:solidFill>
              <a:srgbClr val="0C1E38"/>
            </a:solidFill>
          </p:spPr>
        </p:sp>
        <p:sp>
          <p:nvSpPr>
            <p:cNvPr name="TextBox 36" id="36"/>
            <p:cNvSpPr txBox="true"/>
            <p:nvPr/>
          </p:nvSpPr>
          <p:spPr>
            <a:xfrm>
              <a:off x="0" y="0"/>
              <a:ext cx="908176" cy="125687"/>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Mathematical Modeling</a:t>
              </a:r>
            </a:p>
          </p:txBody>
        </p:sp>
      </p:grpSp>
      <p:grpSp>
        <p:nvGrpSpPr>
          <p:cNvPr name="Group 37" id="37"/>
          <p:cNvGrpSpPr/>
          <p:nvPr/>
        </p:nvGrpSpPr>
        <p:grpSpPr>
          <a:xfrm rot="0">
            <a:off x="21276120" y="7409172"/>
            <a:ext cx="8473951" cy="1537283"/>
            <a:chOff x="0" y="0"/>
            <a:chExt cx="758315" cy="137568"/>
          </a:xfrm>
        </p:grpSpPr>
        <p:sp>
          <p:nvSpPr>
            <p:cNvPr name="Freeform 38" id="38"/>
            <p:cNvSpPr/>
            <p:nvPr/>
          </p:nvSpPr>
          <p:spPr>
            <a:xfrm flipH="false" flipV="false" rot="0">
              <a:off x="0" y="0"/>
              <a:ext cx="758315" cy="137568"/>
            </a:xfrm>
            <a:custGeom>
              <a:avLst/>
              <a:gdLst/>
              <a:ahLst/>
              <a:cxnLst/>
              <a:rect r="r" b="b" t="t" l="l"/>
              <a:pathLst>
                <a:path h="137568" w="758315">
                  <a:moveTo>
                    <a:pt x="68784" y="0"/>
                  </a:moveTo>
                  <a:lnTo>
                    <a:pt x="689531" y="0"/>
                  </a:lnTo>
                  <a:cubicBezTo>
                    <a:pt x="727520" y="0"/>
                    <a:pt x="758315" y="30796"/>
                    <a:pt x="758315" y="68784"/>
                  </a:cubicBezTo>
                  <a:lnTo>
                    <a:pt x="758315" y="68784"/>
                  </a:lnTo>
                  <a:cubicBezTo>
                    <a:pt x="758315" y="106772"/>
                    <a:pt x="727520" y="137568"/>
                    <a:pt x="689531" y="137568"/>
                  </a:cubicBezTo>
                  <a:lnTo>
                    <a:pt x="68784" y="137568"/>
                  </a:lnTo>
                  <a:cubicBezTo>
                    <a:pt x="30796" y="137568"/>
                    <a:pt x="0" y="106772"/>
                    <a:pt x="0" y="68784"/>
                  </a:cubicBezTo>
                  <a:lnTo>
                    <a:pt x="0" y="68784"/>
                  </a:lnTo>
                  <a:cubicBezTo>
                    <a:pt x="0" y="30796"/>
                    <a:pt x="30796" y="0"/>
                    <a:pt x="68784" y="0"/>
                  </a:cubicBezTo>
                  <a:close/>
                </a:path>
              </a:pathLst>
            </a:custGeom>
            <a:solidFill>
              <a:srgbClr val="0C1E38"/>
            </a:solidFill>
          </p:spPr>
        </p:sp>
        <p:sp>
          <p:nvSpPr>
            <p:cNvPr name="TextBox 39" id="39"/>
            <p:cNvSpPr txBox="true"/>
            <p:nvPr/>
          </p:nvSpPr>
          <p:spPr>
            <a:xfrm>
              <a:off x="0" y="0"/>
              <a:ext cx="758315" cy="137568"/>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Experimental Setup</a:t>
              </a:r>
            </a:p>
          </p:txBody>
        </p:sp>
      </p:grpSp>
      <p:grpSp>
        <p:nvGrpSpPr>
          <p:cNvPr name="Group 40" id="40"/>
          <p:cNvGrpSpPr/>
          <p:nvPr/>
        </p:nvGrpSpPr>
        <p:grpSpPr>
          <a:xfrm rot="0">
            <a:off x="22244608" y="22808175"/>
            <a:ext cx="6309549" cy="1404515"/>
            <a:chOff x="0" y="0"/>
            <a:chExt cx="564628" cy="125687"/>
          </a:xfrm>
        </p:grpSpPr>
        <p:sp>
          <p:nvSpPr>
            <p:cNvPr name="Freeform 41" id="41"/>
            <p:cNvSpPr/>
            <p:nvPr/>
          </p:nvSpPr>
          <p:spPr>
            <a:xfrm flipH="false" flipV="false" rot="0">
              <a:off x="0" y="0"/>
              <a:ext cx="564628" cy="125687"/>
            </a:xfrm>
            <a:custGeom>
              <a:avLst/>
              <a:gdLst/>
              <a:ahLst/>
              <a:cxnLst/>
              <a:rect r="r" b="b" t="t" l="l"/>
              <a:pathLst>
                <a:path h="125687" w="564628">
                  <a:moveTo>
                    <a:pt x="62843" y="0"/>
                  </a:moveTo>
                  <a:lnTo>
                    <a:pt x="501784" y="0"/>
                  </a:lnTo>
                  <a:cubicBezTo>
                    <a:pt x="518451" y="0"/>
                    <a:pt x="534436" y="6621"/>
                    <a:pt x="546221" y="18406"/>
                  </a:cubicBezTo>
                  <a:cubicBezTo>
                    <a:pt x="558007" y="30192"/>
                    <a:pt x="564628" y="46176"/>
                    <a:pt x="564628" y="62843"/>
                  </a:cubicBezTo>
                  <a:lnTo>
                    <a:pt x="564628" y="62843"/>
                  </a:lnTo>
                  <a:cubicBezTo>
                    <a:pt x="564628" y="97551"/>
                    <a:pt x="536492" y="125687"/>
                    <a:pt x="501784" y="125687"/>
                  </a:cubicBezTo>
                  <a:lnTo>
                    <a:pt x="62843" y="125687"/>
                  </a:lnTo>
                  <a:cubicBezTo>
                    <a:pt x="46176" y="125687"/>
                    <a:pt x="30192" y="119066"/>
                    <a:pt x="18406" y="107281"/>
                  </a:cubicBezTo>
                  <a:cubicBezTo>
                    <a:pt x="6621" y="95495"/>
                    <a:pt x="0" y="79511"/>
                    <a:pt x="0" y="62843"/>
                  </a:cubicBezTo>
                  <a:lnTo>
                    <a:pt x="0" y="62843"/>
                  </a:lnTo>
                  <a:cubicBezTo>
                    <a:pt x="0" y="46176"/>
                    <a:pt x="6621" y="30192"/>
                    <a:pt x="18406" y="18406"/>
                  </a:cubicBezTo>
                  <a:cubicBezTo>
                    <a:pt x="30192" y="6621"/>
                    <a:pt x="46176" y="0"/>
                    <a:pt x="62843" y="0"/>
                  </a:cubicBezTo>
                  <a:close/>
                </a:path>
              </a:pathLst>
            </a:custGeom>
            <a:solidFill>
              <a:srgbClr val="0C1E38"/>
            </a:solidFill>
          </p:spPr>
        </p:sp>
        <p:sp>
          <p:nvSpPr>
            <p:cNvPr name="TextBox 42" id="42"/>
            <p:cNvSpPr txBox="true"/>
            <p:nvPr/>
          </p:nvSpPr>
          <p:spPr>
            <a:xfrm>
              <a:off x="0" y="0"/>
              <a:ext cx="564628" cy="125687"/>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Conclusion</a:t>
              </a:r>
            </a:p>
          </p:txBody>
        </p:sp>
      </p:grpSp>
      <p:grpSp>
        <p:nvGrpSpPr>
          <p:cNvPr name="Group 43" id="43"/>
          <p:cNvGrpSpPr/>
          <p:nvPr/>
        </p:nvGrpSpPr>
        <p:grpSpPr>
          <a:xfrm rot="0">
            <a:off x="-823487" y="5352118"/>
            <a:ext cx="26562156" cy="1508494"/>
            <a:chOff x="0" y="0"/>
            <a:chExt cx="2376990" cy="134992"/>
          </a:xfrm>
        </p:grpSpPr>
        <p:sp>
          <p:nvSpPr>
            <p:cNvPr name="Freeform 44" id="44"/>
            <p:cNvSpPr/>
            <p:nvPr/>
          </p:nvSpPr>
          <p:spPr>
            <a:xfrm flipH="false" flipV="false" rot="0">
              <a:off x="0" y="0"/>
              <a:ext cx="2376990" cy="134992"/>
            </a:xfrm>
            <a:custGeom>
              <a:avLst/>
              <a:gdLst/>
              <a:ahLst/>
              <a:cxnLst/>
              <a:rect r="r" b="b" t="t" l="l"/>
              <a:pathLst>
                <a:path h="134992" w="2376990">
                  <a:moveTo>
                    <a:pt x="27398" y="0"/>
                  </a:moveTo>
                  <a:lnTo>
                    <a:pt x="2349592" y="0"/>
                  </a:lnTo>
                  <a:cubicBezTo>
                    <a:pt x="2364723" y="0"/>
                    <a:pt x="2376990" y="12266"/>
                    <a:pt x="2376990" y="27398"/>
                  </a:cubicBezTo>
                  <a:lnTo>
                    <a:pt x="2376990" y="107594"/>
                  </a:lnTo>
                  <a:cubicBezTo>
                    <a:pt x="2376990" y="122726"/>
                    <a:pt x="2364723" y="134992"/>
                    <a:pt x="2349592" y="134992"/>
                  </a:cubicBezTo>
                  <a:lnTo>
                    <a:pt x="27398" y="134992"/>
                  </a:lnTo>
                  <a:cubicBezTo>
                    <a:pt x="20131" y="134992"/>
                    <a:pt x="13163" y="132105"/>
                    <a:pt x="8025" y="126967"/>
                  </a:cubicBezTo>
                  <a:cubicBezTo>
                    <a:pt x="2887" y="121829"/>
                    <a:pt x="0" y="114861"/>
                    <a:pt x="0" y="107594"/>
                  </a:cubicBezTo>
                  <a:lnTo>
                    <a:pt x="0" y="27398"/>
                  </a:lnTo>
                  <a:cubicBezTo>
                    <a:pt x="0" y="20131"/>
                    <a:pt x="2887" y="13163"/>
                    <a:pt x="8025" y="8025"/>
                  </a:cubicBezTo>
                  <a:cubicBezTo>
                    <a:pt x="13163" y="2887"/>
                    <a:pt x="20131" y="0"/>
                    <a:pt x="27398" y="0"/>
                  </a:cubicBezTo>
                  <a:close/>
                </a:path>
              </a:pathLst>
            </a:custGeom>
            <a:solidFill>
              <a:srgbClr val="FFFFFF"/>
            </a:solidFill>
          </p:spPr>
        </p:sp>
        <p:sp>
          <p:nvSpPr>
            <p:cNvPr name="TextBox 45" id="45"/>
            <p:cNvSpPr txBox="true"/>
            <p:nvPr/>
          </p:nvSpPr>
          <p:spPr>
            <a:xfrm>
              <a:off x="0" y="0"/>
              <a:ext cx="2376990" cy="134992"/>
            </a:xfrm>
            <a:prstGeom prst="rect">
              <a:avLst/>
            </a:prstGeom>
          </p:spPr>
          <p:txBody>
            <a:bodyPr anchor="ctr" rtlCol="false" tIns="0" lIns="50800" bIns="0" rIns="50800"/>
            <a:lstStyle/>
            <a:p>
              <a:pPr algn="ctr"/>
              <a:r>
                <a:rPr lang="en-US" b="true" sz="6699">
                  <a:solidFill>
                    <a:srgbClr val="124B9C"/>
                  </a:solidFill>
                  <a:latin typeface="Canva Sans Bold"/>
                  <a:ea typeface="Canva Sans Bold"/>
                  <a:cs typeface="Canva Sans Bold"/>
                  <a:sym typeface="Canva Sans Bold"/>
                </a:rPr>
                <a:t>Digging deep into intelligence &amp; driving the future</a:t>
              </a:r>
            </a:p>
          </p:txBody>
        </p:sp>
      </p:grpSp>
      <p:grpSp>
        <p:nvGrpSpPr>
          <p:cNvPr name="Group 46" id="46"/>
          <p:cNvGrpSpPr/>
          <p:nvPr/>
        </p:nvGrpSpPr>
        <p:grpSpPr>
          <a:xfrm rot="0">
            <a:off x="0" y="40823608"/>
            <a:ext cx="30276000" cy="1980392"/>
            <a:chOff x="0" y="0"/>
            <a:chExt cx="2709333" cy="177221"/>
          </a:xfrm>
        </p:grpSpPr>
        <p:sp>
          <p:nvSpPr>
            <p:cNvPr name="Freeform 47" id="47"/>
            <p:cNvSpPr/>
            <p:nvPr/>
          </p:nvSpPr>
          <p:spPr>
            <a:xfrm flipH="false" flipV="false" rot="0">
              <a:off x="0" y="0"/>
              <a:ext cx="2709333" cy="177221"/>
            </a:xfrm>
            <a:custGeom>
              <a:avLst/>
              <a:gdLst/>
              <a:ahLst/>
              <a:cxnLst/>
              <a:rect r="r" b="b" t="t" l="l"/>
              <a:pathLst>
                <a:path h="177221" w="2709333">
                  <a:moveTo>
                    <a:pt x="17388" y="0"/>
                  </a:moveTo>
                  <a:lnTo>
                    <a:pt x="2691945" y="0"/>
                  </a:lnTo>
                  <a:cubicBezTo>
                    <a:pt x="2696557" y="0"/>
                    <a:pt x="2700979" y="1832"/>
                    <a:pt x="2704240" y="5093"/>
                  </a:cubicBezTo>
                  <a:cubicBezTo>
                    <a:pt x="2707501" y="8354"/>
                    <a:pt x="2709333" y="12777"/>
                    <a:pt x="2709333" y="17388"/>
                  </a:cubicBezTo>
                  <a:lnTo>
                    <a:pt x="2709333" y="159833"/>
                  </a:lnTo>
                  <a:cubicBezTo>
                    <a:pt x="2709333" y="164444"/>
                    <a:pt x="2707501" y="168867"/>
                    <a:pt x="2704240" y="172128"/>
                  </a:cubicBezTo>
                  <a:cubicBezTo>
                    <a:pt x="2700979" y="175389"/>
                    <a:pt x="2696557" y="177221"/>
                    <a:pt x="2691945" y="177221"/>
                  </a:cubicBezTo>
                  <a:lnTo>
                    <a:pt x="17388" y="177221"/>
                  </a:lnTo>
                  <a:cubicBezTo>
                    <a:pt x="12777" y="177221"/>
                    <a:pt x="8354" y="175389"/>
                    <a:pt x="5093" y="172128"/>
                  </a:cubicBezTo>
                  <a:cubicBezTo>
                    <a:pt x="1832" y="168867"/>
                    <a:pt x="0" y="164444"/>
                    <a:pt x="0" y="159833"/>
                  </a:cubicBezTo>
                  <a:lnTo>
                    <a:pt x="0" y="17388"/>
                  </a:lnTo>
                  <a:cubicBezTo>
                    <a:pt x="0" y="12777"/>
                    <a:pt x="1832" y="8354"/>
                    <a:pt x="5093" y="5093"/>
                  </a:cubicBezTo>
                  <a:cubicBezTo>
                    <a:pt x="8354" y="1832"/>
                    <a:pt x="12777" y="0"/>
                    <a:pt x="17388" y="0"/>
                  </a:cubicBezTo>
                  <a:close/>
                </a:path>
              </a:pathLst>
            </a:custGeom>
            <a:solidFill>
              <a:srgbClr val="0C1E38"/>
            </a:solidFill>
          </p:spPr>
        </p:sp>
        <p:sp>
          <p:nvSpPr>
            <p:cNvPr name="TextBox 48" id="48"/>
            <p:cNvSpPr txBox="true"/>
            <p:nvPr/>
          </p:nvSpPr>
          <p:spPr>
            <a:xfrm>
              <a:off x="0" y="-85725"/>
              <a:ext cx="2709333" cy="262946"/>
            </a:xfrm>
            <a:prstGeom prst="rect">
              <a:avLst/>
            </a:prstGeom>
          </p:spPr>
          <p:txBody>
            <a:bodyPr anchor="ctr" rtlCol="false" tIns="50800" lIns="50800" bIns="50800" rIns="50800"/>
            <a:lstStyle/>
            <a:p>
              <a:pPr algn="ctr">
                <a:lnSpc>
                  <a:spcPts val="6300"/>
                </a:lnSpc>
              </a:pPr>
            </a:p>
          </p:txBody>
        </p:sp>
      </p:grpSp>
      <p:grpSp>
        <p:nvGrpSpPr>
          <p:cNvPr name="Group 49" id="49"/>
          <p:cNvGrpSpPr/>
          <p:nvPr/>
        </p:nvGrpSpPr>
        <p:grpSpPr>
          <a:xfrm rot="0">
            <a:off x="302551" y="41103638"/>
            <a:ext cx="3512259" cy="1490432"/>
            <a:chOff x="0" y="0"/>
            <a:chExt cx="314304" cy="133375"/>
          </a:xfrm>
        </p:grpSpPr>
        <p:sp>
          <p:nvSpPr>
            <p:cNvPr name="Freeform 50" id="50"/>
            <p:cNvSpPr/>
            <p:nvPr/>
          </p:nvSpPr>
          <p:spPr>
            <a:xfrm flipH="false" flipV="false" rot="0">
              <a:off x="0" y="0"/>
              <a:ext cx="314304" cy="133375"/>
            </a:xfrm>
            <a:custGeom>
              <a:avLst/>
              <a:gdLst/>
              <a:ahLst/>
              <a:cxnLst/>
              <a:rect r="r" b="b" t="t" l="l"/>
              <a:pathLst>
                <a:path h="133375" w="314304">
                  <a:moveTo>
                    <a:pt x="0" y="0"/>
                  </a:moveTo>
                  <a:lnTo>
                    <a:pt x="314304" y="0"/>
                  </a:lnTo>
                  <a:lnTo>
                    <a:pt x="314304" y="133375"/>
                  </a:lnTo>
                  <a:lnTo>
                    <a:pt x="0" y="133375"/>
                  </a:lnTo>
                  <a:close/>
                </a:path>
              </a:pathLst>
            </a:custGeom>
            <a:solidFill>
              <a:srgbClr val="0C1E38"/>
            </a:solidFill>
          </p:spPr>
        </p:sp>
        <p:sp>
          <p:nvSpPr>
            <p:cNvPr name="TextBox 51" id="51"/>
            <p:cNvSpPr txBox="true"/>
            <p:nvPr/>
          </p:nvSpPr>
          <p:spPr>
            <a:xfrm>
              <a:off x="0" y="-85725"/>
              <a:ext cx="314304" cy="219100"/>
            </a:xfrm>
            <a:prstGeom prst="rect">
              <a:avLst/>
            </a:prstGeom>
          </p:spPr>
          <p:txBody>
            <a:bodyPr anchor="ctr" rtlCol="false" tIns="50800" lIns="50800" bIns="50800" rIns="50800"/>
            <a:lstStyle/>
            <a:p>
              <a:pPr algn="ctr">
                <a:lnSpc>
                  <a:spcPts val="6440"/>
                </a:lnSpc>
              </a:pPr>
              <a:r>
                <a:rPr lang="en-US" sz="4600">
                  <a:solidFill>
                    <a:srgbClr val="FFFFFF"/>
                  </a:solidFill>
                  <a:latin typeface="Canva Sans"/>
                  <a:ea typeface="Canva Sans"/>
                  <a:cs typeface="Canva Sans"/>
                  <a:sym typeface="Canva Sans"/>
                </a:rPr>
                <a:t>Authors:</a:t>
              </a:r>
            </a:p>
          </p:txBody>
        </p:sp>
      </p:grpSp>
      <p:sp>
        <p:nvSpPr>
          <p:cNvPr name="AutoShape 52" id="52"/>
          <p:cNvSpPr/>
          <p:nvPr/>
        </p:nvSpPr>
        <p:spPr>
          <a:xfrm>
            <a:off x="3833858" y="41171621"/>
            <a:ext cx="19050" cy="1494668"/>
          </a:xfrm>
          <a:prstGeom prst="line">
            <a:avLst/>
          </a:prstGeom>
          <a:ln cap="flat" w="38100">
            <a:solidFill>
              <a:srgbClr val="FFFFFF"/>
            </a:solidFill>
            <a:prstDash val="solid"/>
            <a:headEnd type="none" len="sm" w="sm"/>
            <a:tailEnd type="none" len="sm" w="sm"/>
          </a:ln>
        </p:spPr>
      </p:sp>
      <p:grpSp>
        <p:nvGrpSpPr>
          <p:cNvPr name="Group 53" id="53"/>
          <p:cNvGrpSpPr/>
          <p:nvPr/>
        </p:nvGrpSpPr>
        <p:grpSpPr>
          <a:xfrm rot="0">
            <a:off x="4351796" y="40893709"/>
            <a:ext cx="4473231" cy="2050493"/>
            <a:chOff x="0" y="0"/>
            <a:chExt cx="400300" cy="183494"/>
          </a:xfrm>
        </p:grpSpPr>
        <p:sp>
          <p:nvSpPr>
            <p:cNvPr name="Freeform 54" id="54"/>
            <p:cNvSpPr/>
            <p:nvPr/>
          </p:nvSpPr>
          <p:spPr>
            <a:xfrm flipH="false" flipV="false" rot="0">
              <a:off x="0" y="0"/>
              <a:ext cx="400300" cy="183494"/>
            </a:xfrm>
            <a:custGeom>
              <a:avLst/>
              <a:gdLst/>
              <a:ahLst/>
              <a:cxnLst/>
              <a:rect r="r" b="b" t="t" l="l"/>
              <a:pathLst>
                <a:path h="183494" w="400300">
                  <a:moveTo>
                    <a:pt x="0" y="0"/>
                  </a:moveTo>
                  <a:lnTo>
                    <a:pt x="400300" y="0"/>
                  </a:lnTo>
                  <a:lnTo>
                    <a:pt x="400300" y="183494"/>
                  </a:lnTo>
                  <a:lnTo>
                    <a:pt x="0" y="183494"/>
                  </a:lnTo>
                  <a:close/>
                </a:path>
              </a:pathLst>
            </a:custGeom>
            <a:solidFill>
              <a:srgbClr val="0C1E38"/>
            </a:solidFill>
          </p:spPr>
        </p:sp>
        <p:sp>
          <p:nvSpPr>
            <p:cNvPr name="TextBox 55" id="55"/>
            <p:cNvSpPr txBox="true"/>
            <p:nvPr/>
          </p:nvSpPr>
          <p:spPr>
            <a:xfrm>
              <a:off x="0" y="-57150"/>
              <a:ext cx="400300" cy="240644"/>
            </a:xfrm>
            <a:prstGeom prst="rect">
              <a:avLst/>
            </a:prstGeom>
          </p:spPr>
          <p:txBody>
            <a:bodyPr anchor="ctr" rtlCol="false" tIns="50800" lIns="50800" bIns="50800" rIns="50800"/>
            <a:lstStyle/>
            <a:p>
              <a:pPr algn="ctr">
                <a:lnSpc>
                  <a:spcPts val="4060"/>
                </a:lnSpc>
              </a:pPr>
              <a:r>
                <a:rPr lang="en-US" sz="2900">
                  <a:solidFill>
                    <a:srgbClr val="FFFFFF"/>
                  </a:solidFill>
                  <a:latin typeface="Canva Sans"/>
                  <a:ea typeface="Canva Sans"/>
                  <a:cs typeface="Canva Sans"/>
                  <a:sym typeface="Canva Sans"/>
                </a:rPr>
                <a:t>Ahmed H. Labib</a:t>
              </a:r>
            </a:p>
            <a:p>
              <a:pPr algn="ctr">
                <a:lnSpc>
                  <a:spcPts val="4060"/>
                </a:lnSpc>
              </a:pPr>
              <a:r>
                <a:rPr lang="en-US" sz="2900">
                  <a:solidFill>
                    <a:srgbClr val="FFFFFF"/>
                  </a:solidFill>
                  <a:latin typeface="Canva Sans"/>
                  <a:ea typeface="Canva Sans"/>
                  <a:cs typeface="Canva Sans"/>
                  <a:sym typeface="Canva Sans"/>
                </a:rPr>
                <a:t>Ahmed W.ElMarsafy</a:t>
              </a:r>
            </a:p>
            <a:p>
              <a:pPr algn="ctr">
                <a:lnSpc>
                  <a:spcPts val="4060"/>
                </a:lnSpc>
              </a:pPr>
              <a:r>
                <a:rPr lang="en-US" sz="2900">
                  <a:solidFill>
                    <a:srgbClr val="FFFFFF"/>
                  </a:solidFill>
                  <a:latin typeface="Canva Sans"/>
                  <a:ea typeface="Canva Sans"/>
                  <a:cs typeface="Canva Sans"/>
                  <a:sym typeface="Canva Sans"/>
                </a:rPr>
                <a:t>Ziad M. ElGendy</a:t>
              </a:r>
            </a:p>
          </p:txBody>
        </p:sp>
      </p:grpSp>
      <p:grpSp>
        <p:nvGrpSpPr>
          <p:cNvPr name="Group 56" id="56"/>
          <p:cNvGrpSpPr/>
          <p:nvPr/>
        </p:nvGrpSpPr>
        <p:grpSpPr>
          <a:xfrm rot="0">
            <a:off x="10880126" y="40823608"/>
            <a:ext cx="4473231" cy="2050493"/>
            <a:chOff x="0" y="0"/>
            <a:chExt cx="400300" cy="183494"/>
          </a:xfrm>
        </p:grpSpPr>
        <p:sp>
          <p:nvSpPr>
            <p:cNvPr name="Freeform 57" id="57"/>
            <p:cNvSpPr/>
            <p:nvPr/>
          </p:nvSpPr>
          <p:spPr>
            <a:xfrm flipH="false" flipV="false" rot="0">
              <a:off x="0" y="0"/>
              <a:ext cx="400300" cy="183494"/>
            </a:xfrm>
            <a:custGeom>
              <a:avLst/>
              <a:gdLst/>
              <a:ahLst/>
              <a:cxnLst/>
              <a:rect r="r" b="b" t="t" l="l"/>
              <a:pathLst>
                <a:path h="183494" w="400300">
                  <a:moveTo>
                    <a:pt x="0" y="0"/>
                  </a:moveTo>
                  <a:lnTo>
                    <a:pt x="400300" y="0"/>
                  </a:lnTo>
                  <a:lnTo>
                    <a:pt x="400300" y="183494"/>
                  </a:lnTo>
                  <a:lnTo>
                    <a:pt x="0" y="183494"/>
                  </a:lnTo>
                  <a:close/>
                </a:path>
              </a:pathLst>
            </a:custGeom>
            <a:solidFill>
              <a:srgbClr val="0C1E38"/>
            </a:solidFill>
          </p:spPr>
        </p:sp>
        <p:sp>
          <p:nvSpPr>
            <p:cNvPr name="TextBox 58" id="58"/>
            <p:cNvSpPr txBox="true"/>
            <p:nvPr/>
          </p:nvSpPr>
          <p:spPr>
            <a:xfrm>
              <a:off x="0" y="-57150"/>
              <a:ext cx="400300" cy="240644"/>
            </a:xfrm>
            <a:prstGeom prst="rect">
              <a:avLst/>
            </a:prstGeom>
          </p:spPr>
          <p:txBody>
            <a:bodyPr anchor="ctr" rtlCol="false" tIns="50800" lIns="50800" bIns="50800" rIns="50800"/>
            <a:lstStyle/>
            <a:p>
              <a:pPr algn="ctr">
                <a:lnSpc>
                  <a:spcPts val="4060"/>
                </a:lnSpc>
              </a:pPr>
              <a:r>
                <a:rPr lang="en-US" sz="2900">
                  <a:solidFill>
                    <a:srgbClr val="FFFFFF"/>
                  </a:solidFill>
                  <a:latin typeface="Canva Sans"/>
                  <a:ea typeface="Canva Sans"/>
                  <a:cs typeface="Canva Sans"/>
                  <a:sym typeface="Canva Sans"/>
                </a:rPr>
                <a:t>Zeyad E.Farghaly</a:t>
              </a:r>
            </a:p>
            <a:p>
              <a:pPr algn="ctr">
                <a:lnSpc>
                  <a:spcPts val="4060"/>
                </a:lnSpc>
              </a:pPr>
              <a:r>
                <a:rPr lang="en-US" sz="2900">
                  <a:solidFill>
                    <a:srgbClr val="FFFFFF"/>
                  </a:solidFill>
                  <a:latin typeface="Canva Sans"/>
                  <a:ea typeface="Canva Sans"/>
                  <a:cs typeface="Canva Sans"/>
                  <a:sym typeface="Canva Sans"/>
                </a:rPr>
                <a:t>Ziad H. Karawia</a:t>
              </a:r>
            </a:p>
            <a:p>
              <a:pPr algn="ctr">
                <a:lnSpc>
                  <a:spcPts val="4060"/>
                </a:lnSpc>
              </a:pPr>
              <a:r>
                <a:rPr lang="en-US" sz="2900">
                  <a:solidFill>
                    <a:srgbClr val="FFFFFF"/>
                  </a:solidFill>
                  <a:latin typeface="Canva Sans"/>
                  <a:ea typeface="Canva Sans"/>
                  <a:cs typeface="Canva Sans"/>
                  <a:sym typeface="Canva Sans"/>
                </a:rPr>
                <a:t>Zeyad M. ElSonney</a:t>
              </a:r>
            </a:p>
          </p:txBody>
        </p:sp>
      </p:grpSp>
      <p:grpSp>
        <p:nvGrpSpPr>
          <p:cNvPr name="Group 59" id="59"/>
          <p:cNvGrpSpPr/>
          <p:nvPr/>
        </p:nvGrpSpPr>
        <p:grpSpPr>
          <a:xfrm rot="0">
            <a:off x="16887859" y="40966339"/>
            <a:ext cx="4473231" cy="1025247"/>
            <a:chOff x="0" y="0"/>
            <a:chExt cx="400300" cy="91747"/>
          </a:xfrm>
        </p:grpSpPr>
        <p:sp>
          <p:nvSpPr>
            <p:cNvPr name="Freeform 60" id="60"/>
            <p:cNvSpPr/>
            <p:nvPr/>
          </p:nvSpPr>
          <p:spPr>
            <a:xfrm flipH="false" flipV="false" rot="0">
              <a:off x="0" y="0"/>
              <a:ext cx="400300" cy="91747"/>
            </a:xfrm>
            <a:custGeom>
              <a:avLst/>
              <a:gdLst/>
              <a:ahLst/>
              <a:cxnLst/>
              <a:rect r="r" b="b" t="t" l="l"/>
              <a:pathLst>
                <a:path h="91747" w="400300">
                  <a:moveTo>
                    <a:pt x="0" y="0"/>
                  </a:moveTo>
                  <a:lnTo>
                    <a:pt x="400300" y="0"/>
                  </a:lnTo>
                  <a:lnTo>
                    <a:pt x="400300" y="91747"/>
                  </a:lnTo>
                  <a:lnTo>
                    <a:pt x="0" y="91747"/>
                  </a:lnTo>
                  <a:close/>
                </a:path>
              </a:pathLst>
            </a:custGeom>
            <a:solidFill>
              <a:srgbClr val="0C1E38"/>
            </a:solidFill>
          </p:spPr>
        </p:sp>
        <p:sp>
          <p:nvSpPr>
            <p:cNvPr name="TextBox 61" id="61"/>
            <p:cNvSpPr txBox="true"/>
            <p:nvPr/>
          </p:nvSpPr>
          <p:spPr>
            <a:xfrm>
              <a:off x="0" y="-57150"/>
              <a:ext cx="400300" cy="148897"/>
            </a:xfrm>
            <a:prstGeom prst="rect">
              <a:avLst/>
            </a:prstGeom>
          </p:spPr>
          <p:txBody>
            <a:bodyPr anchor="ctr" rtlCol="false" tIns="50800" lIns="50800" bIns="50800" rIns="50800"/>
            <a:lstStyle/>
            <a:p>
              <a:pPr algn="ctr">
                <a:lnSpc>
                  <a:spcPts val="4060"/>
                </a:lnSpc>
              </a:pPr>
              <a:r>
                <a:rPr lang="en-US" sz="2900">
                  <a:solidFill>
                    <a:srgbClr val="FFFFFF"/>
                  </a:solidFill>
                  <a:latin typeface="Canva Sans"/>
                  <a:ea typeface="Canva Sans"/>
                  <a:cs typeface="Canva Sans"/>
                  <a:sym typeface="Canva Sans"/>
                </a:rPr>
                <a:t>Mohammed D.ElHosary</a:t>
              </a:r>
            </a:p>
          </p:txBody>
        </p:sp>
      </p:grpSp>
      <p:grpSp>
        <p:nvGrpSpPr>
          <p:cNvPr name="Group 62" id="62"/>
          <p:cNvGrpSpPr/>
          <p:nvPr/>
        </p:nvGrpSpPr>
        <p:grpSpPr>
          <a:xfrm rot="0">
            <a:off x="22758216" y="35042422"/>
            <a:ext cx="5118810" cy="1424283"/>
            <a:chOff x="0" y="0"/>
            <a:chExt cx="458071" cy="127456"/>
          </a:xfrm>
        </p:grpSpPr>
        <p:sp>
          <p:nvSpPr>
            <p:cNvPr name="Freeform 63" id="63"/>
            <p:cNvSpPr/>
            <p:nvPr/>
          </p:nvSpPr>
          <p:spPr>
            <a:xfrm flipH="false" flipV="false" rot="0">
              <a:off x="0" y="0"/>
              <a:ext cx="458071" cy="127456"/>
            </a:xfrm>
            <a:custGeom>
              <a:avLst/>
              <a:gdLst/>
              <a:ahLst/>
              <a:cxnLst/>
              <a:rect r="r" b="b" t="t" l="l"/>
              <a:pathLst>
                <a:path h="127456" w="458071">
                  <a:moveTo>
                    <a:pt x="63728" y="0"/>
                  </a:moveTo>
                  <a:lnTo>
                    <a:pt x="394343" y="0"/>
                  </a:lnTo>
                  <a:cubicBezTo>
                    <a:pt x="429539" y="0"/>
                    <a:pt x="458071" y="28532"/>
                    <a:pt x="458071" y="63728"/>
                  </a:cubicBezTo>
                  <a:lnTo>
                    <a:pt x="458071" y="63728"/>
                  </a:lnTo>
                  <a:cubicBezTo>
                    <a:pt x="458071" y="98924"/>
                    <a:pt x="429539" y="127456"/>
                    <a:pt x="394343" y="127456"/>
                  </a:cubicBezTo>
                  <a:lnTo>
                    <a:pt x="63728" y="127456"/>
                  </a:lnTo>
                  <a:cubicBezTo>
                    <a:pt x="28532" y="127456"/>
                    <a:pt x="0" y="98924"/>
                    <a:pt x="0" y="63728"/>
                  </a:cubicBezTo>
                  <a:lnTo>
                    <a:pt x="0" y="63728"/>
                  </a:lnTo>
                  <a:cubicBezTo>
                    <a:pt x="0" y="28532"/>
                    <a:pt x="28532" y="0"/>
                    <a:pt x="63728" y="0"/>
                  </a:cubicBezTo>
                  <a:close/>
                </a:path>
              </a:pathLst>
            </a:custGeom>
            <a:solidFill>
              <a:srgbClr val="0C1E38"/>
            </a:solidFill>
          </p:spPr>
        </p:sp>
        <p:sp>
          <p:nvSpPr>
            <p:cNvPr name="TextBox 64" id="64"/>
            <p:cNvSpPr txBox="true"/>
            <p:nvPr/>
          </p:nvSpPr>
          <p:spPr>
            <a:xfrm>
              <a:off x="0" y="0"/>
              <a:ext cx="458071" cy="127456"/>
            </a:xfrm>
            <a:prstGeom prst="rect">
              <a:avLst/>
            </a:prstGeom>
          </p:spPr>
          <p:txBody>
            <a:bodyPr anchor="ctr" rtlCol="false" tIns="0" lIns="50800" bIns="0" rIns="50800"/>
            <a:lstStyle/>
            <a:p>
              <a:pPr algn="ctr"/>
              <a:r>
                <a:rPr lang="en-US" sz="6699">
                  <a:solidFill>
                    <a:srgbClr val="FFFFFF"/>
                  </a:solidFill>
                  <a:latin typeface="Canva Sans"/>
                  <a:ea typeface="Canva Sans"/>
                  <a:cs typeface="Canva Sans"/>
                  <a:sym typeface="Canva Sans"/>
                </a:rPr>
                <a:t>References</a:t>
              </a:r>
            </a:p>
          </p:txBody>
        </p:sp>
      </p:grpSp>
      <p:grpSp>
        <p:nvGrpSpPr>
          <p:cNvPr name="Group 65" id="65"/>
          <p:cNvGrpSpPr/>
          <p:nvPr/>
        </p:nvGrpSpPr>
        <p:grpSpPr>
          <a:xfrm rot="0">
            <a:off x="21191151" y="24427154"/>
            <a:ext cx="8643889" cy="10498735"/>
            <a:chOff x="0" y="0"/>
            <a:chExt cx="773523" cy="939509"/>
          </a:xfrm>
        </p:grpSpPr>
        <p:sp>
          <p:nvSpPr>
            <p:cNvPr name="Freeform 66" id="66"/>
            <p:cNvSpPr/>
            <p:nvPr/>
          </p:nvSpPr>
          <p:spPr>
            <a:xfrm flipH="false" flipV="false" rot="0">
              <a:off x="0" y="0"/>
              <a:ext cx="773523" cy="939509"/>
            </a:xfrm>
            <a:custGeom>
              <a:avLst/>
              <a:gdLst/>
              <a:ahLst/>
              <a:cxnLst/>
              <a:rect r="r" b="b" t="t" l="l"/>
              <a:pathLst>
                <a:path h="939509" w="773523">
                  <a:moveTo>
                    <a:pt x="24183" y="0"/>
                  </a:moveTo>
                  <a:lnTo>
                    <a:pt x="749340" y="0"/>
                  </a:lnTo>
                  <a:cubicBezTo>
                    <a:pt x="755754" y="0"/>
                    <a:pt x="761905" y="2548"/>
                    <a:pt x="766440" y="7083"/>
                  </a:cubicBezTo>
                  <a:cubicBezTo>
                    <a:pt x="770975" y="11618"/>
                    <a:pt x="773523" y="17769"/>
                    <a:pt x="773523" y="24183"/>
                  </a:cubicBezTo>
                  <a:lnTo>
                    <a:pt x="773523" y="915326"/>
                  </a:lnTo>
                  <a:cubicBezTo>
                    <a:pt x="773523" y="921740"/>
                    <a:pt x="770975" y="927891"/>
                    <a:pt x="766440" y="932426"/>
                  </a:cubicBezTo>
                  <a:cubicBezTo>
                    <a:pt x="761905" y="936961"/>
                    <a:pt x="755754" y="939509"/>
                    <a:pt x="749340" y="939509"/>
                  </a:cubicBezTo>
                  <a:lnTo>
                    <a:pt x="24183" y="939509"/>
                  </a:lnTo>
                  <a:cubicBezTo>
                    <a:pt x="17769" y="939509"/>
                    <a:pt x="11618" y="936961"/>
                    <a:pt x="7083" y="932426"/>
                  </a:cubicBezTo>
                  <a:cubicBezTo>
                    <a:pt x="2548" y="927891"/>
                    <a:pt x="0" y="921740"/>
                    <a:pt x="0" y="915326"/>
                  </a:cubicBezTo>
                  <a:lnTo>
                    <a:pt x="0" y="24183"/>
                  </a:lnTo>
                  <a:cubicBezTo>
                    <a:pt x="0" y="17769"/>
                    <a:pt x="2548" y="11618"/>
                    <a:pt x="7083" y="7083"/>
                  </a:cubicBezTo>
                  <a:cubicBezTo>
                    <a:pt x="11618" y="2548"/>
                    <a:pt x="17769" y="0"/>
                    <a:pt x="24183" y="0"/>
                  </a:cubicBezTo>
                  <a:close/>
                </a:path>
              </a:pathLst>
            </a:custGeom>
            <a:ln w="190500" cap="rnd">
              <a:solidFill>
                <a:srgbClr val="124B9C"/>
              </a:solidFill>
              <a:prstDash val="solid"/>
              <a:round/>
            </a:ln>
          </p:spPr>
        </p:sp>
        <p:sp>
          <p:nvSpPr>
            <p:cNvPr name="TextBox 67" id="67"/>
            <p:cNvSpPr txBox="true"/>
            <p:nvPr/>
          </p:nvSpPr>
          <p:spPr>
            <a:xfrm>
              <a:off x="0" y="-57150"/>
              <a:ext cx="773523" cy="996659"/>
            </a:xfrm>
            <a:prstGeom prst="rect">
              <a:avLst/>
            </a:prstGeom>
          </p:spPr>
          <p:txBody>
            <a:bodyPr anchor="t" rtlCol="false" tIns="1083160" lIns="50800" bIns="50800" rIns="50800"/>
            <a:lstStyle/>
            <a:p>
              <a:pPr algn="just">
                <a:lnSpc>
                  <a:spcPts val="3920"/>
                </a:lnSpc>
              </a:pPr>
              <a:r>
                <a:rPr lang="en-US" sz="2800">
                  <a:solidFill>
                    <a:srgbClr val="000000"/>
                  </a:solidFill>
                  <a:latin typeface="Canva Sans"/>
                  <a:ea typeface="Canva Sans"/>
                  <a:cs typeface="Canva Sans"/>
                  <a:sym typeface="Canva Sans"/>
                </a:rPr>
                <a:t>Physics-informed training made the network learn the vehicle dynamics instead of only fitting data. Next steps:</a:t>
              </a:r>
            </a:p>
            <a:p>
              <a:pPr algn="just" marL="604539" indent="-302269" lvl="1">
                <a:lnSpc>
                  <a:spcPts val="3920"/>
                </a:lnSpc>
                <a:buAutoNum type="arabicPeriod" startAt="1"/>
              </a:pPr>
              <a:r>
                <a:rPr lang="en-US" sz="2800">
                  <a:solidFill>
                    <a:srgbClr val="000000"/>
                  </a:solidFill>
                  <a:latin typeface="Canva Sans"/>
                  <a:ea typeface="Canva Sans"/>
                  <a:cs typeface="Canva Sans"/>
                  <a:sym typeface="Canva Sans"/>
                </a:rPr>
                <a:t>Unknown vehicles: learn from measured data, with physics as a prior.</a:t>
              </a:r>
            </a:p>
            <a:p>
              <a:pPr algn="just" marL="604539" indent="-302269" lvl="1">
                <a:lnSpc>
                  <a:spcPts val="3920"/>
                </a:lnSpc>
                <a:buAutoNum type="arabicPeriod" startAt="1"/>
              </a:pPr>
              <a:r>
                <a:rPr lang="en-US" sz="2800">
                  <a:solidFill>
                    <a:srgbClr val="000000"/>
                  </a:solidFill>
                  <a:latin typeface="Canva Sans"/>
                  <a:ea typeface="Canva Sans"/>
                  <a:cs typeface="Canva Sans"/>
                  <a:sym typeface="Canva Sans"/>
                </a:rPr>
                <a:t>Higher-fidelity vehicle models, where the surrogate's speed advantage grows.</a:t>
              </a:r>
            </a:p>
            <a:p>
              <a:pPr algn="just" marL="604539" indent="-302269" lvl="1">
                <a:lnSpc>
                  <a:spcPts val="3920"/>
                </a:lnSpc>
                <a:buAutoNum type="arabicPeriod" startAt="1"/>
              </a:pPr>
              <a:r>
                <a:rPr lang="en-US" sz="2800">
                  <a:solidFill>
                    <a:srgbClr val="000000"/>
                  </a:solidFill>
                  <a:latin typeface="Canva Sans"/>
                  <a:ea typeface="Canva Sans"/>
                  <a:cs typeface="Canva Sans"/>
                  <a:sym typeface="Canva Sans"/>
                </a:rPr>
                <a:t>Hardware-in-the-loop and on-vehicle tests.</a:t>
              </a:r>
            </a:p>
            <a:p>
              <a:pPr algn="just">
                <a:lnSpc>
                  <a:spcPts val="3920"/>
                </a:lnSpc>
              </a:pPr>
              <a:r>
                <a:rPr lang="en-US" sz="2800">
                  <a:solidFill>
                    <a:srgbClr val="000000"/>
                  </a:solidFill>
                  <a:latin typeface="Canva Sans"/>
                  <a:ea typeface="Canva Sans"/>
                  <a:cs typeface="Canva Sans"/>
                  <a:sym typeface="Canva Sans"/>
                </a:rPr>
                <a:t>Key lesson: scale the physics loss per state; without it, physics made the model less accurate.</a:t>
              </a:r>
            </a:p>
            <a:p>
              <a:pPr algn="just">
                <a:lnSpc>
                  <a:spcPts val="3920"/>
                </a:lnSpc>
              </a:pPr>
            </a:p>
          </p:txBody>
        </p:sp>
      </p:grpSp>
      <p:grpSp>
        <p:nvGrpSpPr>
          <p:cNvPr name="Group 68" id="68"/>
          <p:cNvGrpSpPr/>
          <p:nvPr/>
        </p:nvGrpSpPr>
        <p:grpSpPr>
          <a:xfrm rot="0">
            <a:off x="21191151" y="36583239"/>
            <a:ext cx="8668496" cy="4173694"/>
            <a:chOff x="0" y="0"/>
            <a:chExt cx="775725" cy="373495"/>
          </a:xfrm>
        </p:grpSpPr>
        <p:sp>
          <p:nvSpPr>
            <p:cNvPr name="Freeform 69" id="69"/>
            <p:cNvSpPr/>
            <p:nvPr/>
          </p:nvSpPr>
          <p:spPr>
            <a:xfrm flipH="false" flipV="false" rot="0">
              <a:off x="0" y="0"/>
              <a:ext cx="775725" cy="373495"/>
            </a:xfrm>
            <a:custGeom>
              <a:avLst/>
              <a:gdLst/>
              <a:ahLst/>
              <a:cxnLst/>
              <a:rect r="r" b="b" t="t" l="l"/>
              <a:pathLst>
                <a:path h="373495" w="775725">
                  <a:moveTo>
                    <a:pt x="38404" y="0"/>
                  </a:moveTo>
                  <a:lnTo>
                    <a:pt x="737321" y="0"/>
                  </a:lnTo>
                  <a:cubicBezTo>
                    <a:pt x="758531" y="0"/>
                    <a:pt x="775725" y="17194"/>
                    <a:pt x="775725" y="38404"/>
                  </a:cubicBezTo>
                  <a:lnTo>
                    <a:pt x="775725" y="335091"/>
                  </a:lnTo>
                  <a:cubicBezTo>
                    <a:pt x="775725" y="356301"/>
                    <a:pt x="758531" y="373495"/>
                    <a:pt x="737321" y="373495"/>
                  </a:cubicBezTo>
                  <a:lnTo>
                    <a:pt x="38404" y="373495"/>
                  </a:lnTo>
                  <a:cubicBezTo>
                    <a:pt x="17194" y="373495"/>
                    <a:pt x="0" y="356301"/>
                    <a:pt x="0" y="335091"/>
                  </a:cubicBezTo>
                  <a:lnTo>
                    <a:pt x="0" y="38404"/>
                  </a:lnTo>
                  <a:cubicBezTo>
                    <a:pt x="0" y="17194"/>
                    <a:pt x="17194" y="0"/>
                    <a:pt x="38404" y="0"/>
                  </a:cubicBezTo>
                  <a:close/>
                </a:path>
              </a:pathLst>
            </a:custGeom>
            <a:ln w="190500" cap="rnd">
              <a:solidFill>
                <a:srgbClr val="124B9C"/>
              </a:solidFill>
              <a:prstDash val="solid"/>
              <a:round/>
            </a:ln>
          </p:spPr>
        </p:sp>
        <p:sp>
          <p:nvSpPr>
            <p:cNvPr name="TextBox 70" id="70"/>
            <p:cNvSpPr txBox="true"/>
            <p:nvPr/>
          </p:nvSpPr>
          <p:spPr>
            <a:xfrm>
              <a:off x="0" y="-38100"/>
              <a:ext cx="775725" cy="411595"/>
            </a:xfrm>
            <a:prstGeom prst="rect">
              <a:avLst/>
            </a:prstGeom>
          </p:spPr>
          <p:txBody>
            <a:bodyPr anchor="ctr" rtlCol="false" tIns="50800" lIns="50800" bIns="50800" rIns="50800"/>
            <a:lstStyle/>
            <a:p>
              <a:pPr algn="just">
                <a:lnSpc>
                  <a:spcPts val="2660"/>
                </a:lnSpc>
              </a:pPr>
            </a:p>
            <a:p>
              <a:pPr algn="just">
                <a:lnSpc>
                  <a:spcPts val="2660"/>
                </a:lnSpc>
              </a:pPr>
            </a:p>
          </p:txBody>
        </p:sp>
      </p:grpSp>
      <p:grpSp>
        <p:nvGrpSpPr>
          <p:cNvPr name="Group 71" id="71"/>
          <p:cNvGrpSpPr/>
          <p:nvPr/>
        </p:nvGrpSpPr>
        <p:grpSpPr>
          <a:xfrm rot="0">
            <a:off x="10482085" y="23721008"/>
            <a:ext cx="10612650" cy="17035925"/>
            <a:chOff x="0" y="0"/>
            <a:chExt cx="949703" cy="1524508"/>
          </a:xfrm>
        </p:grpSpPr>
        <p:sp>
          <p:nvSpPr>
            <p:cNvPr name="Freeform 72" id="72"/>
            <p:cNvSpPr/>
            <p:nvPr/>
          </p:nvSpPr>
          <p:spPr>
            <a:xfrm flipH="false" flipV="false" rot="0">
              <a:off x="0" y="0"/>
              <a:ext cx="949703" cy="1524508"/>
            </a:xfrm>
            <a:custGeom>
              <a:avLst/>
              <a:gdLst/>
              <a:ahLst/>
              <a:cxnLst/>
              <a:rect r="r" b="b" t="t" l="l"/>
              <a:pathLst>
                <a:path h="1524508" w="949703">
                  <a:moveTo>
                    <a:pt x="19696" y="0"/>
                  </a:moveTo>
                  <a:lnTo>
                    <a:pt x="930007" y="0"/>
                  </a:lnTo>
                  <a:cubicBezTo>
                    <a:pt x="940885" y="0"/>
                    <a:pt x="949703" y="8818"/>
                    <a:pt x="949703" y="19696"/>
                  </a:cubicBezTo>
                  <a:lnTo>
                    <a:pt x="949703" y="1504811"/>
                  </a:lnTo>
                  <a:cubicBezTo>
                    <a:pt x="949703" y="1515689"/>
                    <a:pt x="940885" y="1524508"/>
                    <a:pt x="930007" y="1524508"/>
                  </a:cubicBezTo>
                  <a:lnTo>
                    <a:pt x="19696" y="1524508"/>
                  </a:lnTo>
                  <a:cubicBezTo>
                    <a:pt x="8818" y="1524508"/>
                    <a:pt x="0" y="1515689"/>
                    <a:pt x="0" y="1504811"/>
                  </a:cubicBezTo>
                  <a:lnTo>
                    <a:pt x="0" y="19696"/>
                  </a:lnTo>
                  <a:cubicBezTo>
                    <a:pt x="0" y="8818"/>
                    <a:pt x="8818" y="0"/>
                    <a:pt x="19696" y="0"/>
                  </a:cubicBezTo>
                  <a:close/>
                </a:path>
              </a:pathLst>
            </a:custGeom>
            <a:ln w="190500" cap="rnd">
              <a:solidFill>
                <a:srgbClr val="124B9C"/>
              </a:solidFill>
              <a:prstDash val="solid"/>
              <a:round/>
            </a:ln>
          </p:spPr>
        </p:sp>
        <p:sp>
          <p:nvSpPr>
            <p:cNvPr name="TextBox 73" id="73"/>
            <p:cNvSpPr txBox="true"/>
            <p:nvPr/>
          </p:nvSpPr>
          <p:spPr>
            <a:xfrm>
              <a:off x="0" y="-57150"/>
              <a:ext cx="949703" cy="1581658"/>
            </a:xfrm>
            <a:prstGeom prst="rect">
              <a:avLst/>
            </a:prstGeom>
          </p:spPr>
          <p:txBody>
            <a:bodyPr anchor="ctr" rtlCol="false" tIns="50800" lIns="50800" bIns="50800" rIns="50800"/>
            <a:lstStyle/>
            <a:p>
              <a:pPr algn="just">
                <a:lnSpc>
                  <a:spcPts val="3920"/>
                </a:lnSpc>
              </a:pPr>
            </a:p>
          </p:txBody>
        </p:sp>
      </p:grpSp>
      <p:sp>
        <p:nvSpPr>
          <p:cNvPr name="Freeform 74" id="74"/>
          <p:cNvSpPr/>
          <p:nvPr/>
        </p:nvSpPr>
        <p:spPr>
          <a:xfrm flipH="false" flipV="false" rot="0">
            <a:off x="10826893" y="11910138"/>
            <a:ext cx="7082425" cy="1193491"/>
          </a:xfrm>
          <a:custGeom>
            <a:avLst/>
            <a:gdLst/>
            <a:ahLst/>
            <a:cxnLst/>
            <a:rect r="r" b="b" t="t" l="l"/>
            <a:pathLst>
              <a:path h="1193491" w="7082425">
                <a:moveTo>
                  <a:pt x="0" y="0"/>
                </a:moveTo>
                <a:lnTo>
                  <a:pt x="7082425" y="0"/>
                </a:lnTo>
                <a:lnTo>
                  <a:pt x="7082425" y="1193491"/>
                </a:lnTo>
                <a:lnTo>
                  <a:pt x="0" y="1193491"/>
                </a:lnTo>
                <a:lnTo>
                  <a:pt x="0" y="0"/>
                </a:lnTo>
                <a:close/>
              </a:path>
            </a:pathLst>
          </a:custGeom>
          <a:blipFill>
            <a:blip r:embed="rId26"/>
            <a:stretch>
              <a:fillRect/>
            </a:stretch>
          </a:blipFill>
        </p:spPr>
      </p:sp>
      <p:grpSp>
        <p:nvGrpSpPr>
          <p:cNvPr name="Group 75" id="75"/>
          <p:cNvGrpSpPr/>
          <p:nvPr/>
        </p:nvGrpSpPr>
        <p:grpSpPr>
          <a:xfrm rot="0">
            <a:off x="10621273" y="8946455"/>
            <a:ext cx="10204168" cy="12948887"/>
            <a:chOff x="0" y="0"/>
            <a:chExt cx="913149" cy="1158768"/>
          </a:xfrm>
        </p:grpSpPr>
        <p:sp>
          <p:nvSpPr>
            <p:cNvPr name="Freeform 76" id="76"/>
            <p:cNvSpPr/>
            <p:nvPr/>
          </p:nvSpPr>
          <p:spPr>
            <a:xfrm flipH="false" flipV="false" rot="0">
              <a:off x="0" y="0"/>
              <a:ext cx="913149" cy="1158768"/>
            </a:xfrm>
            <a:custGeom>
              <a:avLst/>
              <a:gdLst/>
              <a:ahLst/>
              <a:cxnLst/>
              <a:rect r="r" b="b" t="t" l="l"/>
              <a:pathLst>
                <a:path h="1158768" w="913149">
                  <a:moveTo>
                    <a:pt x="30348" y="0"/>
                  </a:moveTo>
                  <a:lnTo>
                    <a:pt x="882801" y="0"/>
                  </a:lnTo>
                  <a:cubicBezTo>
                    <a:pt x="899561" y="0"/>
                    <a:pt x="913149" y="13587"/>
                    <a:pt x="913149" y="30348"/>
                  </a:cubicBezTo>
                  <a:lnTo>
                    <a:pt x="913149" y="1128420"/>
                  </a:lnTo>
                  <a:cubicBezTo>
                    <a:pt x="913149" y="1145180"/>
                    <a:pt x="899561" y="1158768"/>
                    <a:pt x="882801" y="1158768"/>
                  </a:cubicBezTo>
                  <a:lnTo>
                    <a:pt x="30348" y="1158768"/>
                  </a:lnTo>
                  <a:cubicBezTo>
                    <a:pt x="13587" y="1158768"/>
                    <a:pt x="0" y="1145180"/>
                    <a:pt x="0" y="1128420"/>
                  </a:cubicBezTo>
                  <a:lnTo>
                    <a:pt x="0" y="30348"/>
                  </a:lnTo>
                  <a:cubicBezTo>
                    <a:pt x="0" y="13587"/>
                    <a:pt x="13587" y="0"/>
                    <a:pt x="30348" y="0"/>
                  </a:cubicBezTo>
                  <a:close/>
                </a:path>
              </a:pathLst>
            </a:custGeom>
            <a:ln w="190500" cap="rnd">
              <a:solidFill>
                <a:srgbClr val="124B9C"/>
              </a:solidFill>
              <a:prstDash val="solid"/>
              <a:round/>
            </a:ln>
          </p:spPr>
        </p:sp>
        <p:sp>
          <p:nvSpPr>
            <p:cNvPr name="TextBox 77" id="77"/>
            <p:cNvSpPr txBox="true"/>
            <p:nvPr/>
          </p:nvSpPr>
          <p:spPr>
            <a:xfrm>
              <a:off x="0" y="-57150"/>
              <a:ext cx="913149" cy="1215918"/>
            </a:xfrm>
            <a:prstGeom prst="rect">
              <a:avLst/>
            </a:prstGeom>
          </p:spPr>
          <p:txBody>
            <a:bodyPr anchor="ctr" rtlCol="false" tIns="50800" lIns="50800" bIns="50800" rIns="50800"/>
            <a:lstStyle/>
            <a:p>
              <a:pPr algn="just">
                <a:lnSpc>
                  <a:spcPts val="4200"/>
                </a:lnSpc>
              </a:pPr>
            </a:p>
          </p:txBody>
        </p:sp>
      </p:grpSp>
      <p:grpSp>
        <p:nvGrpSpPr>
          <p:cNvPr name="Group 78" id="78"/>
          <p:cNvGrpSpPr/>
          <p:nvPr/>
        </p:nvGrpSpPr>
        <p:grpSpPr>
          <a:xfrm rot="0">
            <a:off x="10880126" y="11490482"/>
            <a:ext cx="6975960" cy="964368"/>
            <a:chOff x="0" y="0"/>
            <a:chExt cx="624263" cy="86299"/>
          </a:xfrm>
        </p:grpSpPr>
        <p:sp>
          <p:nvSpPr>
            <p:cNvPr name="Freeform 79" id="79"/>
            <p:cNvSpPr/>
            <p:nvPr/>
          </p:nvSpPr>
          <p:spPr>
            <a:xfrm flipH="false" flipV="false" rot="0">
              <a:off x="0" y="0"/>
              <a:ext cx="624263" cy="86299"/>
            </a:xfrm>
            <a:custGeom>
              <a:avLst/>
              <a:gdLst/>
              <a:ahLst/>
              <a:cxnLst/>
              <a:rect r="r" b="b" t="t" l="l"/>
              <a:pathLst>
                <a:path h="86299" w="624263">
                  <a:moveTo>
                    <a:pt x="0" y="0"/>
                  </a:moveTo>
                  <a:lnTo>
                    <a:pt x="624263" y="0"/>
                  </a:lnTo>
                  <a:lnTo>
                    <a:pt x="624263" y="86299"/>
                  </a:lnTo>
                  <a:lnTo>
                    <a:pt x="0" y="86299"/>
                  </a:lnTo>
                  <a:close/>
                </a:path>
              </a:pathLst>
            </a:custGeom>
            <a:ln cap="sq">
              <a:noFill/>
              <a:prstDash val="solid"/>
              <a:miter/>
            </a:ln>
          </p:spPr>
        </p:sp>
        <p:sp>
          <p:nvSpPr>
            <p:cNvPr name="TextBox 80" id="80"/>
            <p:cNvSpPr txBox="true"/>
            <p:nvPr/>
          </p:nvSpPr>
          <p:spPr>
            <a:xfrm>
              <a:off x="0" y="-57150"/>
              <a:ext cx="624263" cy="143449"/>
            </a:xfrm>
            <a:prstGeom prst="rect">
              <a:avLst/>
            </a:prstGeom>
          </p:spPr>
          <p:txBody>
            <a:bodyPr anchor="ctr" rtlCol="false" tIns="50800" lIns="50800" bIns="50800" rIns="50800"/>
            <a:lstStyle/>
            <a:p>
              <a:pPr algn="just" marL="647718" indent="-323859" lvl="1">
                <a:lnSpc>
                  <a:spcPts val="4200"/>
                </a:lnSpc>
                <a:buFont typeface="Arial"/>
                <a:buChar char="•"/>
              </a:pPr>
              <a:r>
                <a:rPr lang="en-US" b="true" sz="3000">
                  <a:solidFill>
                    <a:srgbClr val="000000"/>
                  </a:solidFill>
                  <a:latin typeface="Canva Sans Bold"/>
                  <a:ea typeface="Canva Sans Bold"/>
                  <a:cs typeface="Canva Sans Bold"/>
                  <a:sym typeface="Canva Sans Bold"/>
                </a:rPr>
                <a:t>Longitudinal Dynamics:</a:t>
              </a:r>
            </a:p>
          </p:txBody>
        </p:sp>
      </p:grpSp>
      <p:grpSp>
        <p:nvGrpSpPr>
          <p:cNvPr name="Group 81" id="81"/>
          <p:cNvGrpSpPr/>
          <p:nvPr/>
        </p:nvGrpSpPr>
        <p:grpSpPr>
          <a:xfrm rot="0">
            <a:off x="10880126" y="9175636"/>
            <a:ext cx="9573840" cy="2578864"/>
            <a:chOff x="0" y="0"/>
            <a:chExt cx="856742" cy="230777"/>
          </a:xfrm>
        </p:grpSpPr>
        <p:sp>
          <p:nvSpPr>
            <p:cNvPr name="Freeform 82" id="82"/>
            <p:cNvSpPr/>
            <p:nvPr/>
          </p:nvSpPr>
          <p:spPr>
            <a:xfrm flipH="false" flipV="false" rot="0">
              <a:off x="0" y="0"/>
              <a:ext cx="856742" cy="230777"/>
            </a:xfrm>
            <a:custGeom>
              <a:avLst/>
              <a:gdLst/>
              <a:ahLst/>
              <a:cxnLst/>
              <a:rect r="r" b="b" t="t" l="l"/>
              <a:pathLst>
                <a:path h="230777" w="856742">
                  <a:moveTo>
                    <a:pt x="32346" y="0"/>
                  </a:moveTo>
                  <a:lnTo>
                    <a:pt x="824396" y="0"/>
                  </a:lnTo>
                  <a:cubicBezTo>
                    <a:pt x="842260" y="0"/>
                    <a:pt x="856742" y="14482"/>
                    <a:pt x="856742" y="32346"/>
                  </a:cubicBezTo>
                  <a:lnTo>
                    <a:pt x="856742" y="198431"/>
                  </a:lnTo>
                  <a:cubicBezTo>
                    <a:pt x="856742" y="216295"/>
                    <a:pt x="842260" y="230777"/>
                    <a:pt x="824396" y="230777"/>
                  </a:cubicBezTo>
                  <a:lnTo>
                    <a:pt x="32346" y="230777"/>
                  </a:lnTo>
                  <a:cubicBezTo>
                    <a:pt x="14482" y="230777"/>
                    <a:pt x="0" y="216295"/>
                    <a:pt x="0" y="198431"/>
                  </a:cubicBezTo>
                  <a:lnTo>
                    <a:pt x="0" y="32346"/>
                  </a:lnTo>
                  <a:cubicBezTo>
                    <a:pt x="0" y="14482"/>
                    <a:pt x="14482" y="0"/>
                    <a:pt x="32346" y="0"/>
                  </a:cubicBezTo>
                  <a:close/>
                </a:path>
              </a:pathLst>
            </a:custGeom>
            <a:ln cap="rnd">
              <a:noFill/>
              <a:prstDash val="solid"/>
              <a:round/>
            </a:ln>
          </p:spPr>
        </p:sp>
        <p:sp>
          <p:nvSpPr>
            <p:cNvPr name="TextBox 83" id="83"/>
            <p:cNvSpPr txBox="true"/>
            <p:nvPr/>
          </p:nvSpPr>
          <p:spPr>
            <a:xfrm>
              <a:off x="0" y="-38100"/>
              <a:ext cx="856742" cy="268877"/>
            </a:xfrm>
            <a:prstGeom prst="rect">
              <a:avLst/>
            </a:prstGeom>
          </p:spPr>
          <p:txBody>
            <a:bodyPr anchor="ctr" rtlCol="false" tIns="50800" lIns="50800" bIns="50800" rIns="50800"/>
            <a:lstStyle/>
            <a:p>
              <a:pPr algn="just">
                <a:lnSpc>
                  <a:spcPts val="3080"/>
                </a:lnSpc>
              </a:pPr>
              <a:r>
                <a:rPr lang="en-US" sz="2200">
                  <a:solidFill>
                    <a:srgbClr val="000000"/>
                  </a:solidFill>
                  <a:latin typeface="Canva Sans"/>
                  <a:ea typeface="Canva Sans"/>
                  <a:cs typeface="Canva Sans"/>
                  <a:sym typeface="Canva Sans"/>
                </a:rPr>
                <a:t xml:space="preserve">We describe the vehicle with a single-track (bicycle) model: longitudinal speed vx, lateral speed vy, yaw rate r and heading ψ, driven by a longitudinal force Fx and steering angle δ. The tyre forces depend on the front and rear slip angles, so speed and steering are coupled. </a:t>
              </a:r>
              <a:r>
                <a:rPr lang="en-US" b="true" sz="2200">
                  <a:solidFill>
                    <a:srgbClr val="000000"/>
                  </a:solidFill>
                  <a:latin typeface="Canva Sans Bold"/>
                  <a:ea typeface="Canva Sans Bold"/>
                  <a:cs typeface="Canva Sans Bold"/>
                  <a:sym typeface="Canva Sans Bold"/>
                </a:rPr>
                <a:t>PINC</a:t>
              </a:r>
              <a:r>
                <a:rPr lang="en-US" sz="2200">
                  <a:solidFill>
                    <a:srgbClr val="000000"/>
                  </a:solidFill>
                  <a:latin typeface="Canva Sans"/>
                  <a:ea typeface="Canva Sans"/>
                  <a:cs typeface="Canva Sans"/>
                  <a:sym typeface="Canva Sans"/>
                </a:rPr>
                <a:t xml:space="preserve"> learns this model and replaces it inside the </a:t>
              </a:r>
              <a:r>
                <a:rPr lang="en-US" b="true" sz="2200">
                  <a:solidFill>
                    <a:srgbClr val="000000"/>
                  </a:solidFill>
                  <a:latin typeface="Canva Sans Bold"/>
                  <a:ea typeface="Canva Sans Bold"/>
                  <a:cs typeface="Canva Sans Bold"/>
                  <a:sym typeface="Canva Sans Bold"/>
                </a:rPr>
                <a:t>MPC</a:t>
              </a:r>
              <a:r>
                <a:rPr lang="en-US" sz="2200">
                  <a:solidFill>
                    <a:srgbClr val="000000"/>
                  </a:solidFill>
                  <a:latin typeface="Canva Sans"/>
                  <a:ea typeface="Canva Sans"/>
                  <a:cs typeface="Canva Sans"/>
                  <a:sym typeface="Canva Sans"/>
                </a:rPr>
                <a:t>.</a:t>
              </a:r>
            </a:p>
          </p:txBody>
        </p:sp>
      </p:grpSp>
      <p:sp>
        <p:nvSpPr>
          <p:cNvPr name="Freeform 84" id="84"/>
          <p:cNvSpPr/>
          <p:nvPr/>
        </p:nvSpPr>
        <p:spPr>
          <a:xfrm flipH="false" flipV="false" rot="0">
            <a:off x="11026111" y="13259267"/>
            <a:ext cx="6829974" cy="1177136"/>
          </a:xfrm>
          <a:custGeom>
            <a:avLst/>
            <a:gdLst/>
            <a:ahLst/>
            <a:cxnLst/>
            <a:rect r="r" b="b" t="t" l="l"/>
            <a:pathLst>
              <a:path h="1177136" w="6829974">
                <a:moveTo>
                  <a:pt x="0" y="0"/>
                </a:moveTo>
                <a:lnTo>
                  <a:pt x="6829975" y="0"/>
                </a:lnTo>
                <a:lnTo>
                  <a:pt x="6829975" y="1177136"/>
                </a:lnTo>
                <a:lnTo>
                  <a:pt x="0" y="1177136"/>
                </a:lnTo>
                <a:lnTo>
                  <a:pt x="0" y="0"/>
                </a:lnTo>
                <a:close/>
              </a:path>
            </a:pathLst>
          </a:custGeom>
          <a:blipFill>
            <a:blip r:embed="rId27"/>
            <a:stretch>
              <a:fillRect/>
            </a:stretch>
          </a:blipFill>
        </p:spPr>
      </p:sp>
      <p:grpSp>
        <p:nvGrpSpPr>
          <p:cNvPr name="Group 85" id="85"/>
          <p:cNvGrpSpPr/>
          <p:nvPr/>
        </p:nvGrpSpPr>
        <p:grpSpPr>
          <a:xfrm rot="0">
            <a:off x="10929959" y="12816799"/>
            <a:ext cx="6528124" cy="764449"/>
            <a:chOff x="0" y="0"/>
            <a:chExt cx="584188" cy="68409"/>
          </a:xfrm>
        </p:grpSpPr>
        <p:sp>
          <p:nvSpPr>
            <p:cNvPr name="Freeform 86" id="86"/>
            <p:cNvSpPr/>
            <p:nvPr/>
          </p:nvSpPr>
          <p:spPr>
            <a:xfrm flipH="false" flipV="false" rot="0">
              <a:off x="0" y="0"/>
              <a:ext cx="584188" cy="68409"/>
            </a:xfrm>
            <a:custGeom>
              <a:avLst/>
              <a:gdLst/>
              <a:ahLst/>
              <a:cxnLst/>
              <a:rect r="r" b="b" t="t" l="l"/>
              <a:pathLst>
                <a:path h="68409" w="584188">
                  <a:moveTo>
                    <a:pt x="1186" y="0"/>
                  </a:moveTo>
                  <a:lnTo>
                    <a:pt x="583002" y="0"/>
                  </a:lnTo>
                  <a:cubicBezTo>
                    <a:pt x="583316" y="0"/>
                    <a:pt x="583618" y="125"/>
                    <a:pt x="583840" y="347"/>
                  </a:cubicBezTo>
                  <a:cubicBezTo>
                    <a:pt x="584063" y="570"/>
                    <a:pt x="584188" y="871"/>
                    <a:pt x="584188" y="1186"/>
                  </a:cubicBezTo>
                  <a:lnTo>
                    <a:pt x="584188" y="67223"/>
                  </a:lnTo>
                  <a:cubicBezTo>
                    <a:pt x="584188" y="67878"/>
                    <a:pt x="583657" y="68409"/>
                    <a:pt x="583002" y="68409"/>
                  </a:cubicBezTo>
                  <a:lnTo>
                    <a:pt x="1186" y="68409"/>
                  </a:lnTo>
                  <a:cubicBezTo>
                    <a:pt x="871" y="68409"/>
                    <a:pt x="570" y="68284"/>
                    <a:pt x="347" y="68062"/>
                  </a:cubicBezTo>
                  <a:cubicBezTo>
                    <a:pt x="125" y="67839"/>
                    <a:pt x="0" y="67537"/>
                    <a:pt x="0" y="67223"/>
                  </a:cubicBezTo>
                  <a:lnTo>
                    <a:pt x="0" y="1186"/>
                  </a:lnTo>
                  <a:cubicBezTo>
                    <a:pt x="0" y="871"/>
                    <a:pt x="125" y="570"/>
                    <a:pt x="347" y="347"/>
                  </a:cubicBezTo>
                  <a:cubicBezTo>
                    <a:pt x="570" y="125"/>
                    <a:pt x="871" y="0"/>
                    <a:pt x="1186" y="0"/>
                  </a:cubicBezTo>
                  <a:close/>
                </a:path>
              </a:pathLst>
            </a:custGeom>
            <a:ln cap="sq">
              <a:noFill/>
              <a:prstDash val="solid"/>
              <a:miter/>
            </a:ln>
          </p:spPr>
        </p:sp>
        <p:sp>
          <p:nvSpPr>
            <p:cNvPr name="TextBox 87" id="87"/>
            <p:cNvSpPr txBox="true"/>
            <p:nvPr/>
          </p:nvSpPr>
          <p:spPr>
            <a:xfrm>
              <a:off x="0" y="-57150"/>
              <a:ext cx="584188" cy="125559"/>
            </a:xfrm>
            <a:prstGeom prst="rect">
              <a:avLst/>
            </a:prstGeom>
          </p:spPr>
          <p:txBody>
            <a:bodyPr anchor="ctr" rtlCol="false" tIns="50800" lIns="50800" bIns="50800" rIns="50800"/>
            <a:lstStyle/>
            <a:p>
              <a:pPr algn="just" marL="626128" indent="-313064" lvl="1">
                <a:lnSpc>
                  <a:spcPts val="4060"/>
                </a:lnSpc>
                <a:buFont typeface="Arial"/>
                <a:buChar char="•"/>
              </a:pPr>
              <a:r>
                <a:rPr lang="en-US" b="true" sz="2900">
                  <a:solidFill>
                    <a:srgbClr val="000000"/>
                  </a:solidFill>
                  <a:latin typeface="Canva Sans Bold"/>
                  <a:ea typeface="Canva Sans Bold"/>
                  <a:cs typeface="Canva Sans Bold"/>
                  <a:sym typeface="Canva Sans Bold"/>
                </a:rPr>
                <a:t>Lateral and Yaw Dynamics:</a:t>
              </a:r>
            </a:p>
          </p:txBody>
        </p:sp>
      </p:grpSp>
      <p:sp>
        <p:nvSpPr>
          <p:cNvPr name="Freeform 88" id="88"/>
          <p:cNvSpPr/>
          <p:nvPr/>
        </p:nvSpPr>
        <p:spPr>
          <a:xfrm flipH="false" flipV="false" rot="0">
            <a:off x="21506422" y="14059928"/>
            <a:ext cx="8353225" cy="3737012"/>
          </a:xfrm>
          <a:custGeom>
            <a:avLst/>
            <a:gdLst/>
            <a:ahLst/>
            <a:cxnLst/>
            <a:rect r="r" b="b" t="t" l="l"/>
            <a:pathLst>
              <a:path h="3737012" w="8353225">
                <a:moveTo>
                  <a:pt x="0" y="0"/>
                </a:moveTo>
                <a:lnTo>
                  <a:pt x="8353225" y="0"/>
                </a:lnTo>
                <a:lnTo>
                  <a:pt x="8353225" y="3737012"/>
                </a:lnTo>
                <a:lnTo>
                  <a:pt x="0" y="3737012"/>
                </a:lnTo>
                <a:lnTo>
                  <a:pt x="0" y="0"/>
                </a:lnTo>
                <a:close/>
              </a:path>
            </a:pathLst>
          </a:custGeom>
          <a:blipFill>
            <a:blip r:embed="rId35"/>
            <a:stretch>
              <a:fillRect/>
            </a:stretch>
          </a:blipFill>
        </p:spPr>
      </p:sp>
      <p:grpSp>
        <p:nvGrpSpPr>
          <p:cNvPr name="Group 89" id="89"/>
          <p:cNvGrpSpPr/>
          <p:nvPr/>
        </p:nvGrpSpPr>
        <p:grpSpPr>
          <a:xfrm rot="0">
            <a:off x="21437635" y="9050249"/>
            <a:ext cx="8321961" cy="13452304"/>
            <a:chOff x="0" y="0"/>
            <a:chExt cx="744714" cy="1203817"/>
          </a:xfrm>
        </p:grpSpPr>
        <p:sp>
          <p:nvSpPr>
            <p:cNvPr name="Freeform 90" id="90"/>
            <p:cNvSpPr/>
            <p:nvPr/>
          </p:nvSpPr>
          <p:spPr>
            <a:xfrm flipH="false" flipV="false" rot="0">
              <a:off x="0" y="0"/>
              <a:ext cx="744714" cy="1203817"/>
            </a:xfrm>
            <a:custGeom>
              <a:avLst/>
              <a:gdLst/>
              <a:ahLst/>
              <a:cxnLst/>
              <a:rect r="r" b="b" t="t" l="l"/>
              <a:pathLst>
                <a:path h="1203817" w="744714">
                  <a:moveTo>
                    <a:pt x="37212" y="0"/>
                  </a:moveTo>
                  <a:lnTo>
                    <a:pt x="707502" y="0"/>
                  </a:lnTo>
                  <a:cubicBezTo>
                    <a:pt x="728054" y="0"/>
                    <a:pt x="744714" y="16660"/>
                    <a:pt x="744714" y="37212"/>
                  </a:cubicBezTo>
                  <a:lnTo>
                    <a:pt x="744714" y="1166605"/>
                  </a:lnTo>
                  <a:cubicBezTo>
                    <a:pt x="744714" y="1187157"/>
                    <a:pt x="728054" y="1203817"/>
                    <a:pt x="707502" y="1203817"/>
                  </a:cubicBezTo>
                  <a:lnTo>
                    <a:pt x="37212" y="1203817"/>
                  </a:lnTo>
                  <a:cubicBezTo>
                    <a:pt x="27343" y="1203817"/>
                    <a:pt x="17878" y="1199897"/>
                    <a:pt x="10899" y="1192918"/>
                  </a:cubicBezTo>
                  <a:cubicBezTo>
                    <a:pt x="3921" y="1185940"/>
                    <a:pt x="0" y="1176475"/>
                    <a:pt x="0" y="1166605"/>
                  </a:cubicBezTo>
                  <a:lnTo>
                    <a:pt x="0" y="37212"/>
                  </a:lnTo>
                  <a:cubicBezTo>
                    <a:pt x="0" y="16660"/>
                    <a:pt x="16660" y="0"/>
                    <a:pt x="37212" y="0"/>
                  </a:cubicBezTo>
                  <a:close/>
                </a:path>
              </a:pathLst>
            </a:custGeom>
            <a:ln w="190500" cap="rnd">
              <a:solidFill>
                <a:srgbClr val="124B9C"/>
              </a:solidFill>
              <a:prstDash val="solid"/>
              <a:round/>
            </a:ln>
          </p:spPr>
        </p:sp>
        <p:sp>
          <p:nvSpPr>
            <p:cNvPr name="TextBox 91" id="91"/>
            <p:cNvSpPr txBox="true"/>
            <p:nvPr/>
          </p:nvSpPr>
          <p:spPr>
            <a:xfrm>
              <a:off x="0" y="-57150"/>
              <a:ext cx="744714" cy="1260967"/>
            </a:xfrm>
            <a:prstGeom prst="rect">
              <a:avLst/>
            </a:prstGeom>
          </p:spPr>
          <p:txBody>
            <a:bodyPr anchor="ctr" rtlCol="false" tIns="50800" lIns="50800" bIns="50800" rIns="50800"/>
            <a:lstStyle/>
            <a:p>
              <a:pPr algn="just">
                <a:lnSpc>
                  <a:spcPts val="4200"/>
                </a:lnSpc>
              </a:pPr>
            </a:p>
          </p:txBody>
        </p:sp>
      </p:grpSp>
      <p:grpSp>
        <p:nvGrpSpPr>
          <p:cNvPr name="Group 92" id="92"/>
          <p:cNvGrpSpPr/>
          <p:nvPr/>
        </p:nvGrpSpPr>
        <p:grpSpPr>
          <a:xfrm rot="0">
            <a:off x="21662528" y="9263103"/>
            <a:ext cx="7785237" cy="2539399"/>
            <a:chOff x="0" y="0"/>
            <a:chExt cx="696684" cy="227245"/>
          </a:xfrm>
        </p:grpSpPr>
        <p:sp>
          <p:nvSpPr>
            <p:cNvPr name="Freeform 93" id="93"/>
            <p:cNvSpPr/>
            <p:nvPr/>
          </p:nvSpPr>
          <p:spPr>
            <a:xfrm flipH="false" flipV="false" rot="0">
              <a:off x="0" y="0"/>
              <a:ext cx="696684" cy="227245"/>
            </a:xfrm>
            <a:custGeom>
              <a:avLst/>
              <a:gdLst/>
              <a:ahLst/>
              <a:cxnLst/>
              <a:rect r="r" b="b" t="t" l="l"/>
              <a:pathLst>
                <a:path h="227245" w="696684">
                  <a:moveTo>
                    <a:pt x="39777" y="0"/>
                  </a:moveTo>
                  <a:lnTo>
                    <a:pt x="656907" y="0"/>
                  </a:lnTo>
                  <a:cubicBezTo>
                    <a:pt x="667456" y="0"/>
                    <a:pt x="677574" y="4191"/>
                    <a:pt x="685033" y="11651"/>
                  </a:cubicBezTo>
                  <a:cubicBezTo>
                    <a:pt x="692493" y="19110"/>
                    <a:pt x="696684" y="29228"/>
                    <a:pt x="696684" y="39777"/>
                  </a:cubicBezTo>
                  <a:lnTo>
                    <a:pt x="696684" y="187468"/>
                  </a:lnTo>
                  <a:cubicBezTo>
                    <a:pt x="696684" y="198018"/>
                    <a:pt x="692493" y="208135"/>
                    <a:pt x="685033" y="215595"/>
                  </a:cubicBezTo>
                  <a:cubicBezTo>
                    <a:pt x="677574" y="223054"/>
                    <a:pt x="667456" y="227245"/>
                    <a:pt x="656907" y="227245"/>
                  </a:cubicBezTo>
                  <a:lnTo>
                    <a:pt x="39777" y="227245"/>
                  </a:lnTo>
                  <a:cubicBezTo>
                    <a:pt x="29228" y="227245"/>
                    <a:pt x="19110" y="223054"/>
                    <a:pt x="11651" y="215595"/>
                  </a:cubicBezTo>
                  <a:cubicBezTo>
                    <a:pt x="4191" y="208135"/>
                    <a:pt x="0" y="198018"/>
                    <a:pt x="0" y="187468"/>
                  </a:cubicBezTo>
                  <a:lnTo>
                    <a:pt x="0" y="39777"/>
                  </a:lnTo>
                  <a:cubicBezTo>
                    <a:pt x="0" y="29228"/>
                    <a:pt x="4191" y="19110"/>
                    <a:pt x="11651" y="11651"/>
                  </a:cubicBezTo>
                  <a:cubicBezTo>
                    <a:pt x="19110" y="4191"/>
                    <a:pt x="29228" y="0"/>
                    <a:pt x="39777" y="0"/>
                  </a:cubicBezTo>
                  <a:close/>
                </a:path>
              </a:pathLst>
            </a:custGeom>
            <a:ln cap="rnd">
              <a:noFill/>
              <a:prstDash val="solid"/>
              <a:round/>
            </a:ln>
          </p:spPr>
        </p:sp>
        <p:sp>
          <p:nvSpPr>
            <p:cNvPr name="TextBox 94" id="94"/>
            <p:cNvSpPr txBox="true"/>
            <p:nvPr/>
          </p:nvSpPr>
          <p:spPr>
            <a:xfrm>
              <a:off x="0" y="-38100"/>
              <a:ext cx="696684" cy="265345"/>
            </a:xfrm>
            <a:prstGeom prst="rect">
              <a:avLst/>
            </a:prstGeom>
          </p:spPr>
          <p:txBody>
            <a:bodyPr anchor="ctr" rtlCol="false" tIns="50800" lIns="50800" bIns="50800" rIns="50800"/>
            <a:lstStyle/>
            <a:p>
              <a:pPr algn="just">
                <a:lnSpc>
                  <a:spcPts val="2940"/>
                </a:lnSpc>
              </a:pPr>
              <a:r>
                <a:rPr lang="en-US" sz="2100">
                  <a:solidFill>
                    <a:srgbClr val="000000"/>
                  </a:solidFill>
                  <a:latin typeface="Canva Sans"/>
                  <a:ea typeface="Canva Sans"/>
                  <a:cs typeface="Canva Sans"/>
                  <a:sym typeface="Canva Sans"/>
                </a:rPr>
                <a:t>Approach:</a:t>
              </a:r>
            </a:p>
            <a:p>
              <a:pPr algn="just" marL="410234" indent="-205117" lvl="1">
                <a:lnSpc>
                  <a:spcPts val="2660"/>
                </a:lnSpc>
                <a:buFont typeface="Arial"/>
                <a:buChar char="•"/>
              </a:pPr>
              <a:r>
                <a:rPr lang="en-US" sz="1900">
                  <a:solidFill>
                    <a:srgbClr val="000000"/>
                  </a:solidFill>
                  <a:latin typeface="Canva Sans"/>
                  <a:ea typeface="Canva Sans"/>
                  <a:cs typeface="Canva Sans"/>
                  <a:sym typeface="Canva Sans"/>
                </a:rPr>
                <a:t xml:space="preserve">One </a:t>
              </a:r>
              <a:r>
                <a:rPr lang="en-US" b="true" sz="1900">
                  <a:solidFill>
                    <a:srgbClr val="000000"/>
                  </a:solidFill>
                  <a:latin typeface="Canva Sans Bold"/>
                  <a:ea typeface="Canva Sans Bold"/>
                  <a:cs typeface="Canva Sans Bold"/>
                  <a:sym typeface="Canva Sans Bold"/>
                </a:rPr>
                <a:t>MPC</a:t>
              </a:r>
              <a:r>
                <a:rPr lang="en-US" sz="1900">
                  <a:solidFill>
                    <a:srgbClr val="000000"/>
                  </a:solidFill>
                  <a:latin typeface="Canva Sans"/>
                  <a:ea typeface="Canva Sans"/>
                  <a:cs typeface="Canva Sans"/>
                  <a:sym typeface="Canva Sans"/>
                </a:rPr>
                <a:t xml:space="preserve">, four prediction models: exact model, </a:t>
              </a:r>
              <a:r>
                <a:rPr lang="en-US" b="true" sz="1900">
                  <a:solidFill>
                    <a:srgbClr val="000000"/>
                  </a:solidFill>
                  <a:latin typeface="Canva Sans Bold"/>
                  <a:ea typeface="Canva Sans Bold"/>
                  <a:cs typeface="Canva Sans Bold"/>
                  <a:sym typeface="Canva Sans Bold"/>
                </a:rPr>
                <a:t>PINC</a:t>
              </a:r>
              <a:r>
                <a:rPr lang="en-US" sz="1900">
                  <a:solidFill>
                    <a:srgbClr val="000000"/>
                  </a:solidFill>
                  <a:latin typeface="Canva Sans"/>
                  <a:ea typeface="Canva Sans"/>
                  <a:cs typeface="Canva Sans"/>
                  <a:sym typeface="Canva Sans"/>
                </a:rPr>
                <a:t>, data-only network, linearised model.</a:t>
              </a:r>
            </a:p>
            <a:p>
              <a:pPr algn="just" marL="410234" indent="-205117" lvl="1">
                <a:lnSpc>
                  <a:spcPts val="2660"/>
                </a:lnSpc>
                <a:buFont typeface="Arial"/>
                <a:buChar char="•"/>
              </a:pPr>
              <a:r>
                <a:rPr lang="en-US" sz="1900">
                  <a:solidFill>
                    <a:srgbClr val="000000"/>
                  </a:solidFill>
                  <a:latin typeface="Canva Sans"/>
                  <a:ea typeface="Canva Sans"/>
                  <a:cs typeface="Canva Sans"/>
                  <a:sym typeface="Canva Sans"/>
                </a:rPr>
                <a:t>Data-only network: the same network trained without the physics term (λ = 0).</a:t>
              </a:r>
            </a:p>
            <a:p>
              <a:pPr algn="just">
                <a:lnSpc>
                  <a:spcPts val="2660"/>
                </a:lnSpc>
              </a:pPr>
            </a:p>
          </p:txBody>
        </p:sp>
      </p:grpSp>
      <p:grpSp>
        <p:nvGrpSpPr>
          <p:cNvPr name="Group 95" id="95"/>
          <p:cNvGrpSpPr/>
          <p:nvPr/>
        </p:nvGrpSpPr>
        <p:grpSpPr>
          <a:xfrm rot="0">
            <a:off x="21647185" y="11081265"/>
            <a:ext cx="7340872" cy="3403429"/>
            <a:chOff x="0" y="0"/>
            <a:chExt cx="656919" cy="304565"/>
          </a:xfrm>
        </p:grpSpPr>
        <p:sp>
          <p:nvSpPr>
            <p:cNvPr name="Freeform 96" id="96"/>
            <p:cNvSpPr/>
            <p:nvPr/>
          </p:nvSpPr>
          <p:spPr>
            <a:xfrm flipH="false" flipV="false" rot="0">
              <a:off x="0" y="0"/>
              <a:ext cx="656919" cy="304565"/>
            </a:xfrm>
            <a:custGeom>
              <a:avLst/>
              <a:gdLst/>
              <a:ahLst/>
              <a:cxnLst/>
              <a:rect r="r" b="b" t="t" l="l"/>
              <a:pathLst>
                <a:path h="304565" w="656919">
                  <a:moveTo>
                    <a:pt x="42185" y="0"/>
                  </a:moveTo>
                  <a:lnTo>
                    <a:pt x="614733" y="0"/>
                  </a:lnTo>
                  <a:cubicBezTo>
                    <a:pt x="638032" y="0"/>
                    <a:pt x="656919" y="18887"/>
                    <a:pt x="656919" y="42185"/>
                  </a:cubicBezTo>
                  <a:lnTo>
                    <a:pt x="656919" y="262380"/>
                  </a:lnTo>
                  <a:cubicBezTo>
                    <a:pt x="656919" y="273568"/>
                    <a:pt x="652474" y="284298"/>
                    <a:pt x="644563" y="292210"/>
                  </a:cubicBezTo>
                  <a:cubicBezTo>
                    <a:pt x="636652" y="300121"/>
                    <a:pt x="625922" y="304565"/>
                    <a:pt x="614733" y="304565"/>
                  </a:cubicBezTo>
                  <a:lnTo>
                    <a:pt x="42185" y="304565"/>
                  </a:lnTo>
                  <a:cubicBezTo>
                    <a:pt x="18887" y="304565"/>
                    <a:pt x="0" y="285678"/>
                    <a:pt x="0" y="262380"/>
                  </a:cubicBezTo>
                  <a:lnTo>
                    <a:pt x="0" y="42185"/>
                  </a:lnTo>
                  <a:cubicBezTo>
                    <a:pt x="0" y="18887"/>
                    <a:pt x="18887" y="0"/>
                    <a:pt x="42185" y="0"/>
                  </a:cubicBezTo>
                  <a:close/>
                </a:path>
              </a:pathLst>
            </a:custGeom>
            <a:ln cap="rnd">
              <a:noFill/>
              <a:prstDash val="solid"/>
              <a:round/>
            </a:ln>
          </p:spPr>
        </p:sp>
        <p:sp>
          <p:nvSpPr>
            <p:cNvPr name="TextBox 97" id="97"/>
            <p:cNvSpPr txBox="true"/>
            <p:nvPr/>
          </p:nvSpPr>
          <p:spPr>
            <a:xfrm>
              <a:off x="0" y="-47625"/>
              <a:ext cx="656919" cy="352190"/>
            </a:xfrm>
            <a:prstGeom prst="rect">
              <a:avLst/>
            </a:prstGeom>
          </p:spPr>
          <p:txBody>
            <a:bodyPr anchor="ctr" rtlCol="false" tIns="50800" lIns="50800" bIns="50800" rIns="50800"/>
            <a:lstStyle/>
            <a:p>
              <a:pPr algn="just">
                <a:lnSpc>
                  <a:spcPts val="2800"/>
                </a:lnSpc>
              </a:pPr>
              <a:r>
                <a:rPr lang="en-US" sz="2000">
                  <a:solidFill>
                    <a:srgbClr val="000000"/>
                  </a:solidFill>
                  <a:latin typeface="Canva Sans"/>
                  <a:ea typeface="Canva Sans"/>
                  <a:cs typeface="Canva Sans"/>
                  <a:sym typeface="Canva Sans"/>
                </a:rPr>
                <a:t>Neural Network Architecture</a:t>
              </a:r>
            </a:p>
            <a:p>
              <a:pPr algn="just" marL="431823" indent="-215912" lvl="1">
                <a:lnSpc>
                  <a:spcPts val="2800"/>
                </a:lnSpc>
                <a:buFont typeface="Arial"/>
                <a:buChar char="•"/>
              </a:pPr>
              <a:r>
                <a:rPr lang="en-US" b="true" sz="2000">
                  <a:solidFill>
                    <a:srgbClr val="000000"/>
                  </a:solidFill>
                  <a:latin typeface="Canva Sans Bold"/>
                  <a:ea typeface="Canva Sans Bold"/>
                  <a:cs typeface="Canva Sans Bold"/>
                  <a:sym typeface="Canva Sans Bold"/>
                </a:rPr>
                <a:t>7</a:t>
              </a:r>
              <a:r>
                <a:rPr lang="en-US" sz="2000">
                  <a:solidFill>
                    <a:srgbClr val="000000"/>
                  </a:solidFill>
                  <a:latin typeface="Canva Sans"/>
                  <a:ea typeface="Canva Sans"/>
                  <a:cs typeface="Canva Sans"/>
                  <a:sym typeface="Canva Sans"/>
                </a:rPr>
                <a:t xml:space="preserve"> inputs: time, initial state (vx, vy, r, ψ), force and steering</a:t>
              </a:r>
            </a:p>
            <a:p>
              <a:pPr algn="just" marL="431823" indent="-215912" lvl="1">
                <a:lnSpc>
                  <a:spcPts val="2800"/>
                </a:lnSpc>
                <a:buFont typeface="Arial"/>
                <a:buChar char="•"/>
              </a:pPr>
              <a:r>
                <a:rPr lang="en-US" b="true" sz="2000">
                  <a:solidFill>
                    <a:srgbClr val="000000"/>
                  </a:solidFill>
                  <a:latin typeface="Canva Sans Bold"/>
                  <a:ea typeface="Canva Sans Bold"/>
                  <a:cs typeface="Canva Sans Bold"/>
                  <a:sym typeface="Canva Sans Bold"/>
                </a:rPr>
                <a:t>8</a:t>
              </a:r>
              <a:r>
                <a:rPr lang="en-US" sz="2000">
                  <a:solidFill>
                    <a:srgbClr val="000000"/>
                  </a:solidFill>
                  <a:latin typeface="Canva Sans"/>
                  <a:ea typeface="Canva Sans"/>
                  <a:cs typeface="Canva Sans"/>
                  <a:sym typeface="Canva Sans"/>
                </a:rPr>
                <a:t xml:space="preserve"> hidden layers × </a:t>
              </a:r>
              <a:r>
                <a:rPr lang="en-US" b="true" sz="2000">
                  <a:solidFill>
                    <a:srgbClr val="000000"/>
                  </a:solidFill>
                  <a:latin typeface="Canva Sans Bold"/>
                  <a:ea typeface="Canva Sans Bold"/>
                  <a:cs typeface="Canva Sans Bold"/>
                  <a:sym typeface="Canva Sans Bold"/>
                </a:rPr>
                <a:t>64</a:t>
              </a:r>
              <a:r>
                <a:rPr lang="en-US" sz="2000">
                  <a:solidFill>
                    <a:srgbClr val="000000"/>
                  </a:solidFill>
                  <a:latin typeface="Canva Sans"/>
                  <a:ea typeface="Canva Sans"/>
                  <a:cs typeface="Canva Sans"/>
                  <a:sym typeface="Canva Sans"/>
                </a:rPr>
                <a:t xml:space="preserve"> neurons, tanh activation</a:t>
              </a:r>
            </a:p>
            <a:p>
              <a:pPr algn="just" marL="431823" indent="-215912" lvl="1">
                <a:lnSpc>
                  <a:spcPts val="2800"/>
                </a:lnSpc>
                <a:buFont typeface="Arial"/>
                <a:buChar char="•"/>
              </a:pPr>
              <a:r>
                <a:rPr lang="en-US" sz="2000">
                  <a:solidFill>
                    <a:srgbClr val="000000"/>
                  </a:solidFill>
                  <a:latin typeface="Canva Sans"/>
                  <a:ea typeface="Canva Sans"/>
                  <a:cs typeface="Canva Sans"/>
                  <a:sym typeface="Canva Sans"/>
                </a:rPr>
                <a:t>Exact initial condition, per-state output scaling D</a:t>
              </a:r>
            </a:p>
            <a:p>
              <a:pPr algn="just" marL="431823" indent="-215912" lvl="1">
                <a:lnSpc>
                  <a:spcPts val="2800"/>
                </a:lnSpc>
                <a:buFont typeface="Arial"/>
                <a:buChar char="•"/>
              </a:pPr>
              <a:r>
                <a:rPr lang="en-US" b="true" sz="2000">
                  <a:solidFill>
                    <a:srgbClr val="000000"/>
                  </a:solidFill>
                  <a:latin typeface="Canva Sans Bold"/>
                  <a:ea typeface="Canva Sans Bold"/>
                  <a:cs typeface="Canva Sans Bold"/>
                  <a:sym typeface="Canva Sans Bold"/>
                </a:rPr>
                <a:t>4</a:t>
              </a:r>
              <a:r>
                <a:rPr lang="en-US" sz="2000">
                  <a:solidFill>
                    <a:srgbClr val="000000"/>
                  </a:solidFill>
                  <a:latin typeface="Canva Sans"/>
                  <a:ea typeface="Canva Sans"/>
                  <a:cs typeface="Canva Sans"/>
                  <a:sym typeface="Canva Sans"/>
                </a:rPr>
                <a:t xml:space="preserve"> outputs: vx, vy, yaw rate r and heading ψ</a:t>
              </a:r>
            </a:p>
            <a:p>
              <a:pPr algn="just">
                <a:lnSpc>
                  <a:spcPts val="2800"/>
                </a:lnSpc>
              </a:pPr>
            </a:p>
          </p:txBody>
        </p:sp>
      </p:grpSp>
      <p:sp>
        <p:nvSpPr>
          <p:cNvPr name="Freeform 98" id="98"/>
          <p:cNvSpPr/>
          <p:nvPr/>
        </p:nvSpPr>
        <p:spPr>
          <a:xfrm flipH="false" flipV="false" rot="0">
            <a:off x="25317621" y="19263943"/>
            <a:ext cx="4007151" cy="2225194"/>
          </a:xfrm>
          <a:custGeom>
            <a:avLst/>
            <a:gdLst/>
            <a:ahLst/>
            <a:cxnLst/>
            <a:rect r="r" b="b" t="t" l="l"/>
            <a:pathLst>
              <a:path h="2225194" w="4007151">
                <a:moveTo>
                  <a:pt x="0" y="0"/>
                </a:moveTo>
                <a:lnTo>
                  <a:pt x="4007151" y="0"/>
                </a:lnTo>
                <a:lnTo>
                  <a:pt x="4007151" y="2225194"/>
                </a:lnTo>
                <a:lnTo>
                  <a:pt x="0" y="2225194"/>
                </a:lnTo>
                <a:lnTo>
                  <a:pt x="0" y="0"/>
                </a:lnTo>
                <a:close/>
              </a:path>
            </a:pathLst>
          </a:custGeom>
          <a:blipFill>
            <a:blip r:embed="rId36"/>
            <a:stretch>
              <a:fillRect/>
            </a:stretch>
          </a:blipFill>
        </p:spPr>
      </p:sp>
      <p:sp>
        <p:nvSpPr>
          <p:cNvPr name="Freeform 99" id="99"/>
          <p:cNvSpPr/>
          <p:nvPr/>
        </p:nvSpPr>
        <p:spPr>
          <a:xfrm flipH="false" flipV="false" rot="0">
            <a:off x="22456899" y="18283189"/>
            <a:ext cx="6449510" cy="822421"/>
          </a:xfrm>
          <a:custGeom>
            <a:avLst/>
            <a:gdLst/>
            <a:ahLst/>
            <a:cxnLst/>
            <a:rect r="r" b="b" t="t" l="l"/>
            <a:pathLst>
              <a:path h="822421" w="6449510">
                <a:moveTo>
                  <a:pt x="0" y="0"/>
                </a:moveTo>
                <a:lnTo>
                  <a:pt x="6449510" y="0"/>
                </a:lnTo>
                <a:lnTo>
                  <a:pt x="6449510" y="822421"/>
                </a:lnTo>
                <a:lnTo>
                  <a:pt x="0" y="822421"/>
                </a:lnTo>
                <a:lnTo>
                  <a:pt x="0" y="0"/>
                </a:lnTo>
                <a:close/>
              </a:path>
            </a:pathLst>
          </a:custGeom>
          <a:blipFill>
            <a:blip r:embed="rId31"/>
            <a:stretch>
              <a:fillRect/>
            </a:stretch>
          </a:blipFill>
        </p:spPr>
      </p:sp>
      <p:grpSp>
        <p:nvGrpSpPr>
          <p:cNvPr name="Group 100" id="100"/>
          <p:cNvGrpSpPr/>
          <p:nvPr/>
        </p:nvGrpSpPr>
        <p:grpSpPr>
          <a:xfrm rot="0">
            <a:off x="21647185" y="17859311"/>
            <a:ext cx="7371559" cy="3399814"/>
            <a:chOff x="0" y="0"/>
            <a:chExt cx="659665" cy="304242"/>
          </a:xfrm>
        </p:grpSpPr>
        <p:sp>
          <p:nvSpPr>
            <p:cNvPr name="Freeform 101" id="101"/>
            <p:cNvSpPr/>
            <p:nvPr/>
          </p:nvSpPr>
          <p:spPr>
            <a:xfrm flipH="false" flipV="false" rot="0">
              <a:off x="0" y="0"/>
              <a:ext cx="659665" cy="304242"/>
            </a:xfrm>
            <a:custGeom>
              <a:avLst/>
              <a:gdLst/>
              <a:ahLst/>
              <a:cxnLst/>
              <a:rect r="r" b="b" t="t" l="l"/>
              <a:pathLst>
                <a:path h="304242" w="659665">
                  <a:moveTo>
                    <a:pt x="42010" y="0"/>
                  </a:moveTo>
                  <a:lnTo>
                    <a:pt x="617655" y="0"/>
                  </a:lnTo>
                  <a:cubicBezTo>
                    <a:pt x="628797" y="0"/>
                    <a:pt x="639482" y="4426"/>
                    <a:pt x="647360" y="12304"/>
                  </a:cubicBezTo>
                  <a:cubicBezTo>
                    <a:pt x="655239" y="20183"/>
                    <a:pt x="659665" y="30868"/>
                    <a:pt x="659665" y="42010"/>
                  </a:cubicBezTo>
                  <a:lnTo>
                    <a:pt x="659665" y="262232"/>
                  </a:lnTo>
                  <a:cubicBezTo>
                    <a:pt x="659665" y="273374"/>
                    <a:pt x="655239" y="284059"/>
                    <a:pt x="647360" y="291938"/>
                  </a:cubicBezTo>
                  <a:cubicBezTo>
                    <a:pt x="639482" y="299816"/>
                    <a:pt x="628797" y="304242"/>
                    <a:pt x="617655" y="304242"/>
                  </a:cubicBezTo>
                  <a:lnTo>
                    <a:pt x="42010" y="304242"/>
                  </a:lnTo>
                  <a:cubicBezTo>
                    <a:pt x="18808" y="304242"/>
                    <a:pt x="0" y="285434"/>
                    <a:pt x="0" y="262232"/>
                  </a:cubicBezTo>
                  <a:lnTo>
                    <a:pt x="0" y="42010"/>
                  </a:lnTo>
                  <a:cubicBezTo>
                    <a:pt x="0" y="18808"/>
                    <a:pt x="18808" y="0"/>
                    <a:pt x="42010" y="0"/>
                  </a:cubicBezTo>
                  <a:close/>
                </a:path>
              </a:pathLst>
            </a:custGeom>
            <a:ln cap="rnd">
              <a:noFill/>
              <a:prstDash val="solid"/>
              <a:round/>
            </a:ln>
          </p:spPr>
        </p:sp>
        <p:sp>
          <p:nvSpPr>
            <p:cNvPr name="TextBox 102" id="102"/>
            <p:cNvSpPr txBox="true"/>
            <p:nvPr/>
          </p:nvSpPr>
          <p:spPr>
            <a:xfrm>
              <a:off x="0" y="-38100"/>
              <a:ext cx="659665" cy="342342"/>
            </a:xfrm>
            <a:prstGeom prst="rect">
              <a:avLst/>
            </a:prstGeom>
          </p:spPr>
          <p:txBody>
            <a:bodyPr anchor="ctr" rtlCol="false" tIns="50800" lIns="50800" bIns="50800" rIns="50800"/>
            <a:lstStyle/>
            <a:p>
              <a:pPr algn="just">
                <a:lnSpc>
                  <a:spcPts val="2940"/>
                </a:lnSpc>
              </a:pPr>
              <a:r>
                <a:rPr lang="en-US" sz="2100">
                  <a:solidFill>
                    <a:srgbClr val="000000"/>
                  </a:solidFill>
                  <a:latin typeface="Canva Sans"/>
                  <a:ea typeface="Canva Sans"/>
                  <a:cs typeface="Canva Sans"/>
                  <a:sym typeface="Canva Sans"/>
                </a:rPr>
                <a:t>Training Protocol</a:t>
              </a:r>
            </a:p>
            <a:p>
              <a:pPr algn="just" marL="453413" indent="-226706" lvl="1">
                <a:lnSpc>
                  <a:spcPts val="2940"/>
                </a:lnSpc>
                <a:buFont typeface="Arial"/>
                <a:buChar char="•"/>
              </a:pPr>
              <a:r>
                <a:rPr lang="en-US" sz="2100">
                  <a:solidFill>
                    <a:srgbClr val="000000"/>
                  </a:solidFill>
                  <a:latin typeface="Canva Sans"/>
                  <a:ea typeface="Canva Sans"/>
                  <a:cs typeface="Canva Sans"/>
                  <a:sym typeface="Canva Sans"/>
                </a:rPr>
                <a:t xml:space="preserve">Loss: </a:t>
              </a:r>
            </a:p>
            <a:p>
              <a:pPr algn="just" marL="453413" indent="-226706" lvl="1">
                <a:lnSpc>
                  <a:spcPts val="2940"/>
                </a:lnSpc>
                <a:buFont typeface="Arial"/>
                <a:buChar char="•"/>
              </a:pPr>
              <a:r>
                <a:rPr lang="en-US" sz="2100">
                  <a:solidFill>
                    <a:srgbClr val="000000"/>
                  </a:solidFill>
                  <a:latin typeface="Canva Sans"/>
                  <a:ea typeface="Canva Sans"/>
                  <a:cs typeface="Canva Sans"/>
                  <a:sym typeface="Canva Sans"/>
                </a:rPr>
                <a:t xml:space="preserve">Optimizers: </a:t>
              </a:r>
              <a:r>
                <a:rPr lang="en-US" b="true" sz="2100">
                  <a:solidFill>
                    <a:srgbClr val="000000"/>
                  </a:solidFill>
                  <a:latin typeface="Canva Sans Bold"/>
                  <a:ea typeface="Canva Sans Bold"/>
                  <a:cs typeface="Canva Sans Bold"/>
                  <a:sym typeface="Canva Sans Bold"/>
                </a:rPr>
                <a:t>Adam</a:t>
              </a:r>
              <a:r>
                <a:rPr lang="en-US" sz="2100">
                  <a:solidFill>
                    <a:srgbClr val="000000"/>
                  </a:solidFill>
                  <a:latin typeface="Canva Sans"/>
                  <a:ea typeface="Canva Sans"/>
                  <a:cs typeface="Canva Sans"/>
                  <a:sym typeface="Canva Sans"/>
                </a:rPr>
                <a:t xml:space="preserve"> then </a:t>
              </a:r>
              <a:r>
                <a:rPr lang="en-US" b="true" sz="2100">
                  <a:solidFill>
                    <a:srgbClr val="000000"/>
                  </a:solidFill>
                  <a:latin typeface="Canva Sans Bold"/>
                  <a:ea typeface="Canva Sans Bold"/>
                  <a:cs typeface="Canva Sans Bold"/>
                  <a:sym typeface="Canva Sans Bold"/>
                </a:rPr>
                <a:t>L-BFGS</a:t>
              </a:r>
              <a:r>
                <a:rPr lang="en-US" sz="2100">
                  <a:solidFill>
                    <a:srgbClr val="000000"/>
                  </a:solidFill>
                  <a:latin typeface="Canva Sans"/>
                  <a:ea typeface="Canva Sans"/>
                  <a:cs typeface="Canva Sans"/>
                  <a:sym typeface="Canva Sans"/>
                </a:rPr>
                <a:t xml:space="preserve"> (lr = </a:t>
              </a:r>
              <a:r>
                <a:rPr lang="en-US" b="true" sz="2100">
                  <a:solidFill>
                    <a:srgbClr val="000000"/>
                  </a:solidFill>
                  <a:latin typeface="Canva Sans Bold"/>
                  <a:ea typeface="Canva Sans Bold"/>
                  <a:cs typeface="Canva Sans Bold"/>
                  <a:sym typeface="Canva Sans Bold"/>
                </a:rPr>
                <a:t>0.001</a:t>
              </a:r>
              <a:r>
                <a:rPr lang="en-US" sz="2100">
                  <a:solidFill>
                    <a:srgbClr val="000000"/>
                  </a:solidFill>
                  <a:latin typeface="Canva Sans"/>
                  <a:ea typeface="Canva Sans"/>
                  <a:cs typeface="Canva Sans"/>
                  <a:sym typeface="Canva Sans"/>
                </a:rPr>
                <a:t>)</a:t>
              </a:r>
            </a:p>
            <a:p>
              <a:pPr algn="just" marL="453413" indent="-226706" lvl="1">
                <a:lnSpc>
                  <a:spcPts val="2940"/>
                </a:lnSpc>
                <a:buFont typeface="Arial"/>
                <a:buChar char="•"/>
              </a:pPr>
              <a:r>
                <a:rPr lang="en-US" sz="2100">
                  <a:solidFill>
                    <a:srgbClr val="000000"/>
                  </a:solidFill>
                  <a:latin typeface="Canva Sans"/>
                  <a:ea typeface="Canva Sans"/>
                  <a:cs typeface="Canva Sans"/>
                  <a:sym typeface="Canva Sans"/>
                </a:rPr>
                <a:t xml:space="preserve">Data: </a:t>
              </a:r>
              <a:r>
                <a:rPr lang="en-US" b="true" sz="2100">
                  <a:solidFill>
                    <a:srgbClr val="000000"/>
                  </a:solidFill>
                  <a:latin typeface="Canva Sans Bold"/>
                  <a:ea typeface="Canva Sans Bold"/>
                  <a:cs typeface="Canva Sans Bold"/>
                  <a:sym typeface="Canva Sans Bold"/>
                </a:rPr>
                <a:t>20 000</a:t>
              </a:r>
              <a:r>
                <a:rPr lang="en-US" sz="2100">
                  <a:solidFill>
                    <a:srgbClr val="000000"/>
                  </a:solidFill>
                  <a:latin typeface="Canva Sans"/>
                  <a:ea typeface="Canva Sans"/>
                  <a:cs typeface="Canva Sans"/>
                  <a:sym typeface="Canva Sans"/>
                </a:rPr>
                <a:t xml:space="preserve"> simulated trajectories</a:t>
              </a:r>
            </a:p>
            <a:p>
              <a:pPr algn="just" marL="453413" indent="-226706" lvl="1">
                <a:lnSpc>
                  <a:spcPts val="2940"/>
                </a:lnSpc>
                <a:buFont typeface="Arial"/>
                <a:buChar char="•"/>
              </a:pPr>
              <a:r>
                <a:rPr lang="en-US" sz="2100">
                  <a:solidFill>
                    <a:srgbClr val="000000"/>
                  </a:solidFill>
                  <a:latin typeface="Canva Sans"/>
                  <a:ea typeface="Canva Sans"/>
                  <a:cs typeface="Canva Sans"/>
                  <a:sym typeface="Canva Sans"/>
                </a:rPr>
                <a:t>Normalization:</a:t>
              </a:r>
            </a:p>
            <a:p>
              <a:pPr algn="just">
                <a:lnSpc>
                  <a:spcPts val="2940"/>
                </a:lnSpc>
              </a:pPr>
            </a:p>
            <a:p>
              <a:pPr algn="just">
                <a:lnSpc>
                  <a:spcPts val="2660"/>
                </a:lnSpc>
              </a:pPr>
            </a:p>
            <a:p>
              <a:pPr algn="just">
                <a:lnSpc>
                  <a:spcPts val="2940"/>
                </a:lnSpc>
              </a:pPr>
            </a:p>
          </p:txBody>
        </p:sp>
      </p:grpSp>
      <p:sp>
        <p:nvSpPr>
          <p:cNvPr name="Freeform 103" id="103"/>
          <p:cNvSpPr/>
          <p:nvPr/>
        </p:nvSpPr>
        <p:spPr>
          <a:xfrm flipH="false" flipV="false" rot="0">
            <a:off x="21818635" y="21411664"/>
            <a:ext cx="7629131" cy="854195"/>
          </a:xfrm>
          <a:custGeom>
            <a:avLst/>
            <a:gdLst/>
            <a:ahLst/>
            <a:cxnLst/>
            <a:rect r="r" b="b" t="t" l="l"/>
            <a:pathLst>
              <a:path h="854195" w="7629131">
                <a:moveTo>
                  <a:pt x="0" y="0"/>
                </a:moveTo>
                <a:lnTo>
                  <a:pt x="7629131" y="0"/>
                </a:lnTo>
                <a:lnTo>
                  <a:pt x="7629131" y="854195"/>
                </a:lnTo>
                <a:lnTo>
                  <a:pt x="0" y="854195"/>
                </a:lnTo>
                <a:lnTo>
                  <a:pt x="0" y="0"/>
                </a:lnTo>
                <a:close/>
              </a:path>
            </a:pathLst>
          </a:custGeom>
          <a:blipFill>
            <a:blip r:embed="rId32"/>
            <a:stretch>
              <a:fillRect/>
            </a:stretch>
          </a:blipFill>
        </p:spPr>
      </p:sp>
      <p:grpSp>
        <p:nvGrpSpPr>
          <p:cNvPr name="Group 104" id="104"/>
          <p:cNvGrpSpPr/>
          <p:nvPr/>
        </p:nvGrpSpPr>
        <p:grpSpPr>
          <a:xfrm rot="0">
            <a:off x="21818635" y="20541902"/>
            <a:ext cx="3129674" cy="1739524"/>
            <a:chOff x="0" y="0"/>
            <a:chExt cx="280068" cy="155666"/>
          </a:xfrm>
        </p:grpSpPr>
        <p:sp>
          <p:nvSpPr>
            <p:cNvPr name="Freeform 105" id="105"/>
            <p:cNvSpPr/>
            <p:nvPr/>
          </p:nvSpPr>
          <p:spPr>
            <a:xfrm flipH="false" flipV="false" rot="0">
              <a:off x="0" y="0"/>
              <a:ext cx="280068" cy="155666"/>
            </a:xfrm>
            <a:custGeom>
              <a:avLst/>
              <a:gdLst/>
              <a:ahLst/>
              <a:cxnLst/>
              <a:rect r="r" b="b" t="t" l="l"/>
              <a:pathLst>
                <a:path h="155666" w="280068">
                  <a:moveTo>
                    <a:pt x="77833" y="0"/>
                  </a:moveTo>
                  <a:lnTo>
                    <a:pt x="202235" y="0"/>
                  </a:lnTo>
                  <a:cubicBezTo>
                    <a:pt x="222877" y="0"/>
                    <a:pt x="242674" y="8200"/>
                    <a:pt x="257271" y="22797"/>
                  </a:cubicBezTo>
                  <a:cubicBezTo>
                    <a:pt x="271867" y="37393"/>
                    <a:pt x="280068" y="57190"/>
                    <a:pt x="280068" y="77833"/>
                  </a:cubicBezTo>
                  <a:lnTo>
                    <a:pt x="280068" y="77833"/>
                  </a:lnTo>
                  <a:cubicBezTo>
                    <a:pt x="280068" y="98476"/>
                    <a:pt x="271867" y="118273"/>
                    <a:pt x="257271" y="132869"/>
                  </a:cubicBezTo>
                  <a:cubicBezTo>
                    <a:pt x="242674" y="147466"/>
                    <a:pt x="222877" y="155666"/>
                    <a:pt x="202235" y="155666"/>
                  </a:cubicBezTo>
                  <a:lnTo>
                    <a:pt x="77833" y="155666"/>
                  </a:lnTo>
                  <a:cubicBezTo>
                    <a:pt x="57190" y="155666"/>
                    <a:pt x="37393" y="147466"/>
                    <a:pt x="22797" y="132869"/>
                  </a:cubicBezTo>
                  <a:cubicBezTo>
                    <a:pt x="8200" y="118273"/>
                    <a:pt x="0" y="98476"/>
                    <a:pt x="0" y="77833"/>
                  </a:cubicBezTo>
                  <a:lnTo>
                    <a:pt x="0" y="77833"/>
                  </a:lnTo>
                  <a:cubicBezTo>
                    <a:pt x="0" y="57190"/>
                    <a:pt x="8200" y="37393"/>
                    <a:pt x="22797" y="22797"/>
                  </a:cubicBezTo>
                  <a:cubicBezTo>
                    <a:pt x="37393" y="8200"/>
                    <a:pt x="57190" y="0"/>
                    <a:pt x="77833" y="0"/>
                  </a:cubicBezTo>
                  <a:close/>
                </a:path>
              </a:pathLst>
            </a:custGeom>
            <a:ln w="57150" cap="rnd">
              <a:solidFill>
                <a:srgbClr val="FFFFFF"/>
              </a:solidFill>
              <a:prstDash val="solid"/>
              <a:round/>
            </a:ln>
          </p:spPr>
        </p:sp>
        <p:sp>
          <p:nvSpPr>
            <p:cNvPr name="TextBox 106" id="106"/>
            <p:cNvSpPr txBox="true"/>
            <p:nvPr/>
          </p:nvSpPr>
          <p:spPr>
            <a:xfrm>
              <a:off x="0" y="-38100"/>
              <a:ext cx="280068" cy="193766"/>
            </a:xfrm>
            <a:prstGeom prst="rect">
              <a:avLst/>
            </a:prstGeom>
          </p:spPr>
          <p:txBody>
            <a:bodyPr anchor="ctr" rtlCol="false" tIns="50800" lIns="50800" bIns="50800" rIns="50800"/>
            <a:lstStyle/>
            <a:p>
              <a:pPr algn="just" marL="453413" indent="-226706" lvl="1">
                <a:lnSpc>
                  <a:spcPts val="2940"/>
                </a:lnSpc>
                <a:buFont typeface="Arial"/>
                <a:buChar char="•"/>
              </a:pPr>
              <a:r>
                <a:rPr lang="en-US" sz="2100">
                  <a:solidFill>
                    <a:srgbClr val="000000"/>
                  </a:solidFill>
                  <a:latin typeface="Canva Sans"/>
                  <a:ea typeface="Canva Sans"/>
                  <a:cs typeface="Canva Sans"/>
                  <a:sym typeface="Canva Sans"/>
                </a:rPr>
                <a:t>Test manoeuvres</a:t>
              </a:r>
            </a:p>
            <a:p>
              <a:pPr algn="just">
                <a:lnSpc>
                  <a:spcPts val="2940"/>
                </a:lnSpc>
              </a:pPr>
            </a:p>
          </p:txBody>
        </p:sp>
      </p:grpSp>
      <p:grpSp>
        <p:nvGrpSpPr>
          <p:cNvPr name="Group 108" id="108"/>
          <p:cNvGrpSpPr/>
          <p:nvPr/>
        </p:nvGrpSpPr>
        <p:grpSpPr>
          <a:xfrm rot="0">
            <a:off x="10943127" y="17271691"/>
            <a:ext cx="9702497" cy="2509854"/>
            <a:chOff x="0" y="0"/>
            <a:chExt cx="868255" cy="224601"/>
          </a:xfrm>
        </p:grpSpPr>
        <p:sp>
          <p:nvSpPr>
            <p:cNvPr name="Freeform 109" id="109"/>
            <p:cNvSpPr/>
            <p:nvPr/>
          </p:nvSpPr>
          <p:spPr>
            <a:xfrm flipH="false" flipV="false" rot="0">
              <a:off x="0" y="0"/>
              <a:ext cx="868255" cy="224601"/>
            </a:xfrm>
            <a:custGeom>
              <a:avLst/>
              <a:gdLst/>
              <a:ahLst/>
              <a:cxnLst/>
              <a:rect r="r" b="b" t="t" l="l"/>
              <a:pathLst>
                <a:path h="224601" w="868255">
                  <a:moveTo>
                    <a:pt x="22342" y="0"/>
                  </a:moveTo>
                  <a:lnTo>
                    <a:pt x="845913" y="0"/>
                  </a:lnTo>
                  <a:cubicBezTo>
                    <a:pt x="851839" y="0"/>
                    <a:pt x="857522" y="2354"/>
                    <a:pt x="861711" y="6544"/>
                  </a:cubicBezTo>
                  <a:cubicBezTo>
                    <a:pt x="865901" y="10734"/>
                    <a:pt x="868255" y="16417"/>
                    <a:pt x="868255" y="22342"/>
                  </a:cubicBezTo>
                  <a:lnTo>
                    <a:pt x="868255" y="202259"/>
                  </a:lnTo>
                  <a:cubicBezTo>
                    <a:pt x="868255" y="208185"/>
                    <a:pt x="865901" y="213868"/>
                    <a:pt x="861711" y="218058"/>
                  </a:cubicBezTo>
                  <a:cubicBezTo>
                    <a:pt x="857522" y="222248"/>
                    <a:pt x="851839" y="224601"/>
                    <a:pt x="845913" y="224601"/>
                  </a:cubicBezTo>
                  <a:lnTo>
                    <a:pt x="22342" y="224601"/>
                  </a:lnTo>
                  <a:cubicBezTo>
                    <a:pt x="16417" y="224601"/>
                    <a:pt x="10734" y="222248"/>
                    <a:pt x="6544" y="218058"/>
                  </a:cubicBezTo>
                  <a:cubicBezTo>
                    <a:pt x="2354" y="213868"/>
                    <a:pt x="0" y="208185"/>
                    <a:pt x="0" y="202259"/>
                  </a:cubicBezTo>
                  <a:lnTo>
                    <a:pt x="0" y="22342"/>
                  </a:lnTo>
                  <a:cubicBezTo>
                    <a:pt x="0" y="16417"/>
                    <a:pt x="2354" y="10734"/>
                    <a:pt x="6544" y="6544"/>
                  </a:cubicBezTo>
                  <a:cubicBezTo>
                    <a:pt x="10734" y="2354"/>
                    <a:pt x="16417" y="0"/>
                    <a:pt x="22342" y="0"/>
                  </a:cubicBezTo>
                  <a:close/>
                </a:path>
              </a:pathLst>
            </a:custGeom>
            <a:ln cap="rnd">
              <a:noFill/>
              <a:prstDash val="solid"/>
              <a:round/>
            </a:ln>
          </p:spPr>
        </p:sp>
        <p:sp>
          <p:nvSpPr>
            <p:cNvPr name="TextBox 110" id="110"/>
            <p:cNvSpPr txBox="true"/>
            <p:nvPr/>
          </p:nvSpPr>
          <p:spPr>
            <a:xfrm>
              <a:off x="0" y="-47625"/>
              <a:ext cx="868255" cy="272226"/>
            </a:xfrm>
            <a:prstGeom prst="rect">
              <a:avLst/>
            </a:prstGeom>
          </p:spPr>
          <p:txBody>
            <a:bodyPr anchor="ctr" rtlCol="false" tIns="50800" lIns="50800" bIns="50800" rIns="50800"/>
            <a:lstStyle/>
            <a:p>
              <a:pPr algn="just" marL="647695" indent="-323848" lvl="1">
                <a:lnSpc>
                  <a:spcPts val="4199"/>
                </a:lnSpc>
                <a:buFont typeface="Arial"/>
                <a:buChar char="•"/>
              </a:pPr>
              <a:r>
                <a:rPr lang="en-US" b="true" sz="2999">
                  <a:solidFill>
                    <a:srgbClr val="000000"/>
                  </a:solidFill>
                  <a:latin typeface="Canva Sans Bold"/>
                  <a:ea typeface="Canva Sans Bold"/>
                  <a:cs typeface="Canva Sans Bold"/>
                  <a:sym typeface="Canva Sans Bold"/>
                </a:rPr>
                <a:t>Our Contribution: Physics-Informed Model</a:t>
              </a:r>
            </a:p>
            <a:p>
              <a:pPr algn="just">
                <a:lnSpc>
                  <a:spcPts val="2940"/>
                </a:lnSpc>
              </a:pPr>
              <a:r>
                <a:rPr lang="en-US" sz="2100">
                  <a:solidFill>
                    <a:srgbClr val="000000"/>
                  </a:solidFill>
                  <a:latin typeface="Canva Sans"/>
                  <a:ea typeface="Canva Sans"/>
                  <a:cs typeface="Canva Sans"/>
                  <a:sym typeface="Canva Sans"/>
                </a:rPr>
                <a:t>1.</a:t>
              </a:r>
            </a:p>
            <a:p>
              <a:pPr algn="just">
                <a:lnSpc>
                  <a:spcPts val="2940"/>
                </a:lnSpc>
              </a:pPr>
              <a:r>
                <a:rPr lang="en-US" sz="2100">
                  <a:solidFill>
                    <a:srgbClr val="000000"/>
                  </a:solidFill>
                  <a:latin typeface="Canva Sans"/>
                  <a:ea typeface="Canva Sans"/>
                  <a:cs typeface="Canva Sans"/>
                  <a:sym typeface="Canva Sans"/>
                </a:rPr>
                <a:t>A neural network trained with a physics-informed loss maps time t, initial state and input u to the predicted state; chaining it over the horizon gives the MPC its model.</a:t>
              </a:r>
            </a:p>
            <a:p>
              <a:pPr algn="just">
                <a:lnSpc>
                  <a:spcPts val="2940"/>
                </a:lnSpc>
              </a:pPr>
            </a:p>
          </p:txBody>
        </p:sp>
      </p:grpSp>
      <p:sp>
        <p:nvSpPr>
          <p:cNvPr name="Freeform 112" id="112"/>
          <p:cNvSpPr/>
          <p:nvPr/>
        </p:nvSpPr>
        <p:spPr>
          <a:xfrm flipH="false" flipV="false" rot="0">
            <a:off x="11985064" y="20831897"/>
            <a:ext cx="4292364" cy="579767"/>
          </a:xfrm>
          <a:custGeom>
            <a:avLst/>
            <a:gdLst/>
            <a:ahLst/>
            <a:cxnLst/>
            <a:rect r="r" b="b" t="t" l="l"/>
            <a:pathLst>
              <a:path h="579767" w="4292364">
                <a:moveTo>
                  <a:pt x="0" y="0"/>
                </a:moveTo>
                <a:lnTo>
                  <a:pt x="4292365" y="0"/>
                </a:lnTo>
                <a:lnTo>
                  <a:pt x="4292365" y="579767"/>
                </a:lnTo>
                <a:lnTo>
                  <a:pt x="0" y="579767"/>
                </a:lnTo>
                <a:lnTo>
                  <a:pt x="0" y="0"/>
                </a:lnTo>
                <a:close/>
              </a:path>
            </a:pathLst>
          </a:custGeom>
          <a:blipFill>
            <a:blip r:embed="rId30"/>
            <a:stretch>
              <a:fillRect/>
            </a:stretch>
          </a:blipFill>
        </p:spPr>
      </p:sp>
      <p:grpSp>
        <p:nvGrpSpPr>
          <p:cNvPr name="Group 113" id="113"/>
          <p:cNvGrpSpPr/>
          <p:nvPr/>
        </p:nvGrpSpPr>
        <p:grpSpPr>
          <a:xfrm rot="0">
            <a:off x="10943127" y="19275790"/>
            <a:ext cx="9492947" cy="2833984"/>
            <a:chOff x="0" y="0"/>
            <a:chExt cx="849503" cy="253607"/>
          </a:xfrm>
        </p:grpSpPr>
        <p:sp>
          <p:nvSpPr>
            <p:cNvPr name="Freeform 114" id="114"/>
            <p:cNvSpPr/>
            <p:nvPr/>
          </p:nvSpPr>
          <p:spPr>
            <a:xfrm flipH="false" flipV="false" rot="0">
              <a:off x="0" y="0"/>
              <a:ext cx="849503" cy="253607"/>
            </a:xfrm>
            <a:custGeom>
              <a:avLst/>
              <a:gdLst/>
              <a:ahLst/>
              <a:cxnLst/>
              <a:rect r="r" b="b" t="t" l="l"/>
              <a:pathLst>
                <a:path h="253607" w="849503">
                  <a:moveTo>
                    <a:pt x="22835" y="0"/>
                  </a:moveTo>
                  <a:lnTo>
                    <a:pt x="826668" y="0"/>
                  </a:lnTo>
                  <a:cubicBezTo>
                    <a:pt x="839279" y="0"/>
                    <a:pt x="849503" y="10224"/>
                    <a:pt x="849503" y="22835"/>
                  </a:cubicBezTo>
                  <a:lnTo>
                    <a:pt x="849503" y="230772"/>
                  </a:lnTo>
                  <a:cubicBezTo>
                    <a:pt x="849503" y="243383"/>
                    <a:pt x="839279" y="253607"/>
                    <a:pt x="826668" y="253607"/>
                  </a:cubicBezTo>
                  <a:lnTo>
                    <a:pt x="22835" y="253607"/>
                  </a:lnTo>
                  <a:cubicBezTo>
                    <a:pt x="10224" y="253607"/>
                    <a:pt x="0" y="243383"/>
                    <a:pt x="0" y="230772"/>
                  </a:cubicBezTo>
                  <a:lnTo>
                    <a:pt x="0" y="22835"/>
                  </a:lnTo>
                  <a:cubicBezTo>
                    <a:pt x="0" y="10224"/>
                    <a:pt x="10224" y="0"/>
                    <a:pt x="22835" y="0"/>
                  </a:cubicBezTo>
                  <a:close/>
                </a:path>
              </a:pathLst>
            </a:custGeom>
            <a:ln cap="rnd">
              <a:noFill/>
              <a:prstDash val="solid"/>
              <a:round/>
            </a:ln>
          </p:spPr>
        </p:sp>
        <p:sp>
          <p:nvSpPr>
            <p:cNvPr name="TextBox 115" id="115"/>
            <p:cNvSpPr txBox="true"/>
            <p:nvPr/>
          </p:nvSpPr>
          <p:spPr>
            <a:xfrm>
              <a:off x="0" y="-38100"/>
              <a:ext cx="849503" cy="291707"/>
            </a:xfrm>
            <a:prstGeom prst="rect">
              <a:avLst/>
            </a:prstGeom>
          </p:spPr>
          <p:txBody>
            <a:bodyPr anchor="ctr" rtlCol="false" tIns="50800" lIns="50800" bIns="50800" rIns="50800"/>
            <a:lstStyle/>
            <a:p>
              <a:pPr algn="just">
                <a:lnSpc>
                  <a:spcPts val="2940"/>
                </a:lnSpc>
              </a:pPr>
              <a:r>
                <a:rPr lang="en-US" sz="2100">
                  <a:solidFill>
                    <a:srgbClr val="000000"/>
                  </a:solidFill>
                  <a:latin typeface="Canva Sans"/>
                  <a:ea typeface="Canva Sans"/>
                  <a:cs typeface="Canva Sans"/>
                  <a:sym typeface="Canva Sans"/>
                </a:rPr>
                <a:t>2.</a:t>
              </a:r>
            </a:p>
            <a:p>
              <a:pPr algn="just">
                <a:lnSpc>
                  <a:spcPts val="2940"/>
                </a:lnSpc>
              </a:pPr>
              <a:r>
                <a:rPr lang="en-US" sz="2100">
                  <a:solidFill>
                    <a:srgbClr val="000000"/>
                  </a:solidFill>
                  <a:latin typeface="Canva Sans"/>
                  <a:ea typeface="Canva Sans"/>
                  <a:cs typeface="Canva Sans"/>
                  <a:sym typeface="Canva Sans"/>
                </a:rPr>
                <a:t>Exact initial condition and a per-state scaling D, which keeps the four physics terms balanced:</a:t>
              </a:r>
            </a:p>
            <a:p>
              <a:pPr algn="just">
                <a:lnSpc>
                  <a:spcPts val="2940"/>
                </a:lnSpc>
              </a:pPr>
            </a:p>
            <a:p>
              <a:pPr algn="just">
                <a:lnSpc>
                  <a:spcPts val="2940"/>
                </a:lnSpc>
              </a:pPr>
            </a:p>
            <a:p>
              <a:pPr algn="just">
                <a:lnSpc>
                  <a:spcPts val="2940"/>
                </a:lnSpc>
              </a:pPr>
            </a:p>
          </p:txBody>
        </p:sp>
      </p:grpSp>
      <p:sp>
        <p:nvSpPr>
          <p:cNvPr name="Freeform 116" id="116"/>
          <p:cNvSpPr/>
          <p:nvPr/>
        </p:nvSpPr>
        <p:spPr>
          <a:xfrm flipH="false" flipV="false" rot="0">
            <a:off x="-823487" y="1964686"/>
            <a:ext cx="4974654" cy="3724524"/>
          </a:xfrm>
          <a:custGeom>
            <a:avLst/>
            <a:gdLst/>
            <a:ahLst/>
            <a:cxnLst/>
            <a:rect r="r" b="b" t="t" l="l"/>
            <a:pathLst>
              <a:path h="3724524" w="4974654">
                <a:moveTo>
                  <a:pt x="0" y="0"/>
                </a:moveTo>
                <a:lnTo>
                  <a:pt x="4974654" y="0"/>
                </a:lnTo>
                <a:lnTo>
                  <a:pt x="4974654" y="3724525"/>
                </a:lnTo>
                <a:lnTo>
                  <a:pt x="0" y="3724525"/>
                </a:lnTo>
                <a:lnTo>
                  <a:pt x="0" y="0"/>
                </a:lnTo>
                <a:close/>
              </a:path>
            </a:pathLst>
          </a:custGeom>
          <a:blipFill>
            <a:blip r:embed="rId18"/>
            <a:stretch>
              <a:fillRect l="0" t="0" r="0" b="0"/>
            </a:stretch>
          </a:blipFill>
        </p:spPr>
      </p:sp>
      <p:sp>
        <p:nvSpPr>
          <p:cNvPr name="Freeform 117" id="117"/>
          <p:cNvSpPr/>
          <p:nvPr/>
        </p:nvSpPr>
        <p:spPr>
          <a:xfrm flipH="false" flipV="false" rot="0">
            <a:off x="27530348" y="37033834"/>
            <a:ext cx="2095591" cy="2337090"/>
          </a:xfrm>
          <a:custGeom>
            <a:avLst/>
            <a:gdLst/>
            <a:ahLst/>
            <a:cxnLst/>
            <a:rect r="r" b="b" t="t" l="l"/>
            <a:pathLst>
              <a:path h="2337090" w="2095591">
                <a:moveTo>
                  <a:pt x="0" y="0"/>
                </a:moveTo>
                <a:lnTo>
                  <a:pt x="2095591" y="0"/>
                </a:lnTo>
                <a:lnTo>
                  <a:pt x="2095591" y="2337090"/>
                </a:lnTo>
                <a:lnTo>
                  <a:pt x="0" y="2337090"/>
                </a:lnTo>
                <a:lnTo>
                  <a:pt x="0" y="0"/>
                </a:lnTo>
                <a:close/>
              </a:path>
            </a:pathLst>
          </a:custGeom>
          <a:blipFill>
            <a:blip r:embed="rId19"/>
            <a:stretch>
              <a:fillRect l="0" t="0" r="0" b="0"/>
            </a:stretch>
          </a:blipFill>
        </p:spPr>
      </p:sp>
      <p:sp>
        <p:nvSpPr>
          <p:cNvPr name="Freeform 118" id="118"/>
          <p:cNvSpPr/>
          <p:nvPr/>
        </p:nvSpPr>
        <p:spPr>
          <a:xfrm flipH="false" flipV="false" rot="0">
            <a:off x="25563682" y="40896382"/>
            <a:ext cx="1771174" cy="2548451"/>
          </a:xfrm>
          <a:custGeom>
            <a:avLst/>
            <a:gdLst/>
            <a:ahLst/>
            <a:cxnLst/>
            <a:rect r="r" b="b" t="t" l="l"/>
            <a:pathLst>
              <a:path h="2548451" w="1771174">
                <a:moveTo>
                  <a:pt x="0" y="0"/>
                </a:moveTo>
                <a:lnTo>
                  <a:pt x="1771174" y="0"/>
                </a:lnTo>
                <a:lnTo>
                  <a:pt x="1771174" y="2548451"/>
                </a:lnTo>
                <a:lnTo>
                  <a:pt x="0" y="2548451"/>
                </a:lnTo>
                <a:lnTo>
                  <a:pt x="0" y="0"/>
                </a:lnTo>
                <a:close/>
              </a:path>
            </a:pathLst>
          </a:custGeom>
          <a:blipFill>
            <a:blip r:embed="rId20"/>
            <a:stretch>
              <a:fillRect l="0" t="0" r="0" b="0"/>
            </a:stretch>
          </a:blipFill>
        </p:spPr>
      </p:sp>
      <p:sp>
        <p:nvSpPr>
          <p:cNvPr name="Freeform 119" id="119"/>
          <p:cNvSpPr/>
          <p:nvPr/>
        </p:nvSpPr>
        <p:spPr>
          <a:xfrm flipH="false" flipV="false" rot="0">
            <a:off x="10684856" y="23949608"/>
            <a:ext cx="5576337" cy="3730515"/>
          </a:xfrm>
          <a:custGeom>
            <a:avLst/>
            <a:gdLst/>
            <a:ahLst/>
            <a:cxnLst/>
            <a:rect r="r" b="b" t="t" l="l"/>
            <a:pathLst>
              <a:path h="3730515" w="5576337">
                <a:moveTo>
                  <a:pt x="0" y="0"/>
                </a:moveTo>
                <a:lnTo>
                  <a:pt x="5576337" y="0"/>
                </a:lnTo>
                <a:lnTo>
                  <a:pt x="5576337" y="3730516"/>
                </a:lnTo>
                <a:lnTo>
                  <a:pt x="0" y="3730516"/>
                </a:lnTo>
                <a:lnTo>
                  <a:pt x="0" y="0"/>
                </a:lnTo>
                <a:close/>
              </a:path>
            </a:pathLst>
          </a:custGeom>
          <a:blipFill>
            <a:blip r:embed="rId33"/>
            <a:stretch>
              <a:fillRect/>
            </a:stretch>
          </a:blipFill>
        </p:spPr>
      </p:sp>
      <p:sp>
        <p:nvSpPr>
          <p:cNvPr name="Freeform 120" id="120"/>
          <p:cNvSpPr/>
          <p:nvPr/>
        </p:nvSpPr>
        <p:spPr>
          <a:xfrm flipH="false" flipV="false" rot="0">
            <a:off x="16261193" y="24102008"/>
            <a:ext cx="4618405" cy="2995864"/>
          </a:xfrm>
          <a:custGeom>
            <a:avLst/>
            <a:gdLst/>
            <a:ahLst/>
            <a:cxnLst/>
            <a:rect r="r" b="b" t="t" l="l"/>
            <a:pathLst>
              <a:path h="2995864" w="4618405">
                <a:moveTo>
                  <a:pt x="0" y="0"/>
                </a:moveTo>
                <a:lnTo>
                  <a:pt x="4618404" y="0"/>
                </a:lnTo>
                <a:lnTo>
                  <a:pt x="4618404" y="2995864"/>
                </a:lnTo>
                <a:lnTo>
                  <a:pt x="0" y="2995864"/>
                </a:lnTo>
                <a:lnTo>
                  <a:pt x="0" y="0"/>
                </a:lnTo>
                <a:close/>
              </a:path>
            </a:pathLst>
          </a:custGeom>
          <a:blipFill>
            <a:blip r:embed="rId34"/>
            <a:stretch>
              <a:fillRect/>
            </a:stretch>
          </a:blipFill>
        </p:spPr>
      </p:sp>
      <p:sp>
        <p:nvSpPr>
          <p:cNvPr name="Freeform 121" id="121"/>
          <p:cNvSpPr/>
          <p:nvPr/>
        </p:nvSpPr>
        <p:spPr>
          <a:xfrm flipH="false" flipV="false" rot="0">
            <a:off x="2712301" y="24102924"/>
            <a:ext cx="4475899" cy="4475899"/>
          </a:xfrm>
          <a:custGeom>
            <a:avLst/>
            <a:gdLst/>
            <a:ahLst/>
            <a:cxnLst/>
            <a:rect r="r" b="b" t="t" l="l"/>
            <a:pathLst>
              <a:path h="4475899" w="4475899">
                <a:moveTo>
                  <a:pt x="0" y="0"/>
                </a:moveTo>
                <a:lnTo>
                  <a:pt x="4475899" y="0"/>
                </a:lnTo>
                <a:lnTo>
                  <a:pt x="4475899" y="4475899"/>
                </a:lnTo>
                <a:lnTo>
                  <a:pt x="0" y="4475899"/>
                </a:lnTo>
                <a:lnTo>
                  <a:pt x="0" y="0"/>
                </a:lnTo>
                <a:close/>
              </a:path>
            </a:pathLst>
          </a:custGeom>
          <a:blipFill>
            <a:blip r:embed="rId23"/>
            <a:stretch>
              <a:fillRect l="0" t="0" r="0" b="0"/>
            </a:stretch>
          </a:blipFill>
        </p:spPr>
      </p:sp>
      <p:grpSp>
        <p:nvGrpSpPr>
          <p:cNvPr name="Group 122" id="122"/>
          <p:cNvGrpSpPr/>
          <p:nvPr/>
        </p:nvGrpSpPr>
        <p:grpSpPr>
          <a:xfrm rot="0">
            <a:off x="369513" y="31125522"/>
            <a:ext cx="9840888" cy="6178829"/>
            <a:chOff x="0" y="0"/>
            <a:chExt cx="880640" cy="552930"/>
          </a:xfrm>
        </p:grpSpPr>
        <p:sp>
          <p:nvSpPr>
            <p:cNvPr name="Freeform 123" id="123"/>
            <p:cNvSpPr/>
            <p:nvPr/>
          </p:nvSpPr>
          <p:spPr>
            <a:xfrm flipH="false" flipV="false" rot="0">
              <a:off x="0" y="0"/>
              <a:ext cx="880640" cy="552930"/>
            </a:xfrm>
            <a:custGeom>
              <a:avLst/>
              <a:gdLst/>
              <a:ahLst/>
              <a:cxnLst/>
              <a:rect r="r" b="b" t="t" l="l"/>
              <a:pathLst>
                <a:path h="552930" w="880640">
                  <a:moveTo>
                    <a:pt x="22028" y="0"/>
                  </a:moveTo>
                  <a:lnTo>
                    <a:pt x="858612" y="0"/>
                  </a:lnTo>
                  <a:cubicBezTo>
                    <a:pt x="870777" y="0"/>
                    <a:pt x="880640" y="9862"/>
                    <a:pt x="880640" y="22028"/>
                  </a:cubicBezTo>
                  <a:lnTo>
                    <a:pt x="880640" y="530902"/>
                  </a:lnTo>
                  <a:cubicBezTo>
                    <a:pt x="880640" y="536744"/>
                    <a:pt x="878319" y="542347"/>
                    <a:pt x="874188" y="546478"/>
                  </a:cubicBezTo>
                  <a:cubicBezTo>
                    <a:pt x="870057" y="550609"/>
                    <a:pt x="864454" y="552930"/>
                    <a:pt x="858612" y="552930"/>
                  </a:cubicBezTo>
                  <a:lnTo>
                    <a:pt x="22028" y="552930"/>
                  </a:lnTo>
                  <a:cubicBezTo>
                    <a:pt x="16186" y="552930"/>
                    <a:pt x="10583" y="550609"/>
                    <a:pt x="6452" y="546478"/>
                  </a:cubicBezTo>
                  <a:cubicBezTo>
                    <a:pt x="2321" y="542347"/>
                    <a:pt x="0" y="536744"/>
                    <a:pt x="0" y="530902"/>
                  </a:cubicBezTo>
                  <a:lnTo>
                    <a:pt x="0" y="22028"/>
                  </a:lnTo>
                  <a:cubicBezTo>
                    <a:pt x="0" y="9862"/>
                    <a:pt x="9862" y="0"/>
                    <a:pt x="22028" y="0"/>
                  </a:cubicBezTo>
                  <a:close/>
                </a:path>
              </a:pathLst>
            </a:custGeom>
            <a:ln cap="rnd">
              <a:noFill/>
              <a:prstDash val="solid"/>
              <a:round/>
            </a:ln>
          </p:spPr>
        </p:sp>
        <p:sp>
          <p:nvSpPr>
            <p:cNvPr name="TextBox 124" id="124"/>
            <p:cNvSpPr txBox="true"/>
            <p:nvPr/>
          </p:nvSpPr>
          <p:spPr>
            <a:xfrm>
              <a:off x="0" y="-57150"/>
              <a:ext cx="880640" cy="610080"/>
            </a:xfrm>
            <a:prstGeom prst="rect">
              <a:avLst/>
            </a:prstGeom>
          </p:spPr>
          <p:txBody>
            <a:bodyPr anchor="ctr" rtlCol="false" tIns="50800" lIns="50800" bIns="50800" rIns="50800"/>
            <a:lstStyle/>
            <a:p>
              <a:pPr algn="just">
                <a:lnSpc>
                  <a:spcPts val="4060"/>
                </a:lnSpc>
              </a:pPr>
              <a:r>
                <a:rPr lang="en-US" sz="2900">
                  <a:solidFill>
                    <a:srgbClr val="000000"/>
                  </a:solidFill>
                  <a:latin typeface="Canva Sans"/>
                  <a:ea typeface="Canva Sans"/>
                  <a:cs typeface="Canva Sans"/>
                  <a:sym typeface="Canva Sans"/>
                </a:rPr>
                <a:t>This review compares control methods for Connected and Automated Vehicles (</a:t>
              </a:r>
              <a:r>
                <a:rPr lang="en-US" b="true" sz="2900">
                  <a:solidFill>
                    <a:srgbClr val="000000"/>
                  </a:solidFill>
                  <a:latin typeface="Canva Sans Bold"/>
                  <a:ea typeface="Canva Sans Bold"/>
                  <a:cs typeface="Canva Sans Bold"/>
                  <a:sym typeface="Canva Sans Bold"/>
                </a:rPr>
                <a:t>CAVs</a:t>
              </a:r>
              <a:r>
                <a:rPr lang="en-US" sz="2900">
                  <a:solidFill>
                    <a:srgbClr val="000000"/>
                  </a:solidFill>
                  <a:latin typeface="Canva Sans"/>
                  <a:ea typeface="Canva Sans"/>
                  <a:cs typeface="Canva Sans"/>
                  <a:sym typeface="Canva Sans"/>
                </a:rPr>
                <a:t>). Model Predictive Control (</a:t>
              </a:r>
              <a:r>
                <a:rPr lang="en-US" b="true" sz="2900">
                  <a:solidFill>
                    <a:srgbClr val="000000"/>
                  </a:solidFill>
                  <a:latin typeface="Canva Sans Bold"/>
                  <a:ea typeface="Canva Sans Bold"/>
                  <a:cs typeface="Canva Sans Bold"/>
                  <a:sym typeface="Canva Sans Bold"/>
                </a:rPr>
                <a:t>MPC</a:t>
              </a:r>
              <a:r>
                <a:rPr lang="en-US" sz="2900">
                  <a:solidFill>
                    <a:srgbClr val="000000"/>
                  </a:solidFill>
                  <a:latin typeface="Canva Sans"/>
                  <a:ea typeface="Canva Sans"/>
                  <a:cs typeface="Canva Sans"/>
                  <a:sym typeface="Canva Sans"/>
                </a:rPr>
                <a:t>) predicts future states but struggles with uncertainties. Sliding Mode Control (</a:t>
              </a:r>
              <a:r>
                <a:rPr lang="en-US" b="true" sz="2900">
                  <a:solidFill>
                    <a:srgbClr val="000000"/>
                  </a:solidFill>
                  <a:latin typeface="Canva Sans Bold"/>
                  <a:ea typeface="Canva Sans Bold"/>
                  <a:cs typeface="Canva Sans Bold"/>
                  <a:sym typeface="Canva Sans Bold"/>
                </a:rPr>
                <a:t>SMC</a:t>
              </a:r>
              <a:r>
                <a:rPr lang="en-US" sz="2900">
                  <a:solidFill>
                    <a:srgbClr val="000000"/>
                  </a:solidFill>
                  <a:latin typeface="Canva Sans"/>
                  <a:ea typeface="Canva Sans"/>
                  <a:cs typeface="Canva Sans"/>
                  <a:sym typeface="Canva Sans"/>
                </a:rPr>
                <a:t>) counters disturbances but causes actuator wear. </a:t>
              </a:r>
              <a:r>
                <a:rPr lang="en-US" b="true" sz="2900">
                  <a:solidFill>
                    <a:srgbClr val="000000"/>
                  </a:solidFill>
                  <a:latin typeface="Canva Sans Bold"/>
                  <a:ea typeface="Canva Sans Bold"/>
                  <a:cs typeface="Canva Sans Bold"/>
                  <a:sym typeface="Canva Sans Bold"/>
                </a:rPr>
                <a:t>H∞</a:t>
              </a:r>
              <a:r>
                <a:rPr lang="en-US" sz="2900">
                  <a:solidFill>
                    <a:srgbClr val="000000"/>
                  </a:solidFill>
                  <a:latin typeface="Canva Sans"/>
                  <a:ea typeface="Canva Sans"/>
                  <a:cs typeface="Canva Sans"/>
                  <a:sym typeface="Canva Sans"/>
                </a:rPr>
                <a:t> control ensures robust stability, while Min-Max </a:t>
              </a:r>
              <a:r>
                <a:rPr lang="en-US" b="true" sz="2900">
                  <a:solidFill>
                    <a:srgbClr val="000000"/>
                  </a:solidFill>
                  <a:latin typeface="Canva Sans Bold"/>
                  <a:ea typeface="Canva Sans Bold"/>
                  <a:cs typeface="Canva Sans Bold"/>
                  <a:sym typeface="Canva Sans Bold"/>
                </a:rPr>
                <a:t>MPC</a:t>
              </a:r>
              <a:r>
                <a:rPr lang="en-US" sz="2900">
                  <a:solidFill>
                    <a:srgbClr val="000000"/>
                  </a:solidFill>
                  <a:latin typeface="Canva Sans"/>
                  <a:ea typeface="Canva Sans"/>
                  <a:cs typeface="Canva Sans"/>
                  <a:sym typeface="Canva Sans"/>
                </a:rPr>
                <a:t> optimizes for worst-case scenarios. Integrating these with physics-informed neural networks shows strong potential for managing complex vehicle dynamics, as shown in Figure 2.</a:t>
              </a:r>
            </a:p>
          </p:txBody>
        </p:sp>
      </p:grpSp>
      <p:grpSp>
        <p:nvGrpSpPr>
          <p:cNvPr name="Group 125" id="125"/>
          <p:cNvGrpSpPr/>
          <p:nvPr/>
        </p:nvGrpSpPr>
        <p:grpSpPr>
          <a:xfrm rot="0">
            <a:off x="302551" y="17859311"/>
            <a:ext cx="9331810" cy="6353379"/>
            <a:chOff x="0" y="0"/>
            <a:chExt cx="835083" cy="568550"/>
          </a:xfrm>
        </p:grpSpPr>
        <p:sp>
          <p:nvSpPr>
            <p:cNvPr name="Freeform 126" id="126"/>
            <p:cNvSpPr/>
            <p:nvPr/>
          </p:nvSpPr>
          <p:spPr>
            <a:xfrm flipH="false" flipV="false" rot="0">
              <a:off x="0" y="0"/>
              <a:ext cx="835083" cy="568550"/>
            </a:xfrm>
            <a:custGeom>
              <a:avLst/>
              <a:gdLst/>
              <a:ahLst/>
              <a:cxnLst/>
              <a:rect r="r" b="b" t="t" l="l"/>
              <a:pathLst>
                <a:path h="568550" w="835083">
                  <a:moveTo>
                    <a:pt x="33185" y="0"/>
                  </a:moveTo>
                  <a:lnTo>
                    <a:pt x="801898" y="0"/>
                  </a:lnTo>
                  <a:cubicBezTo>
                    <a:pt x="810699" y="0"/>
                    <a:pt x="819140" y="3496"/>
                    <a:pt x="825364" y="9720"/>
                  </a:cubicBezTo>
                  <a:cubicBezTo>
                    <a:pt x="831587" y="15943"/>
                    <a:pt x="835083" y="24384"/>
                    <a:pt x="835083" y="33185"/>
                  </a:cubicBezTo>
                  <a:lnTo>
                    <a:pt x="835083" y="535365"/>
                  </a:lnTo>
                  <a:cubicBezTo>
                    <a:pt x="835083" y="544166"/>
                    <a:pt x="831587" y="552607"/>
                    <a:pt x="825364" y="558830"/>
                  </a:cubicBezTo>
                  <a:cubicBezTo>
                    <a:pt x="819140" y="565054"/>
                    <a:pt x="810699" y="568550"/>
                    <a:pt x="801898" y="568550"/>
                  </a:cubicBezTo>
                  <a:lnTo>
                    <a:pt x="33185" y="568550"/>
                  </a:lnTo>
                  <a:cubicBezTo>
                    <a:pt x="24384" y="568550"/>
                    <a:pt x="15943" y="565054"/>
                    <a:pt x="9720" y="558830"/>
                  </a:cubicBezTo>
                  <a:cubicBezTo>
                    <a:pt x="3496" y="552607"/>
                    <a:pt x="0" y="544166"/>
                    <a:pt x="0" y="535365"/>
                  </a:cubicBezTo>
                  <a:lnTo>
                    <a:pt x="0" y="33185"/>
                  </a:lnTo>
                  <a:cubicBezTo>
                    <a:pt x="0" y="24384"/>
                    <a:pt x="3496" y="15943"/>
                    <a:pt x="9720" y="9720"/>
                  </a:cubicBezTo>
                  <a:cubicBezTo>
                    <a:pt x="15943" y="3496"/>
                    <a:pt x="24384" y="0"/>
                    <a:pt x="33185" y="0"/>
                  </a:cubicBezTo>
                  <a:close/>
                </a:path>
              </a:pathLst>
            </a:custGeom>
            <a:ln cap="rnd">
              <a:noFill/>
              <a:prstDash val="solid"/>
              <a:round/>
            </a:ln>
          </p:spPr>
        </p:sp>
        <p:sp>
          <p:nvSpPr>
            <p:cNvPr name="TextBox 127" id="127"/>
            <p:cNvSpPr txBox="true"/>
            <p:nvPr/>
          </p:nvSpPr>
          <p:spPr>
            <a:xfrm>
              <a:off x="0" y="-57150"/>
              <a:ext cx="835083" cy="625700"/>
            </a:xfrm>
            <a:prstGeom prst="rect">
              <a:avLst/>
            </a:prstGeom>
          </p:spPr>
          <p:txBody>
            <a:bodyPr anchor="t" rtlCol="false" tIns="472963" lIns="127000" bIns="127000" rIns="127000"/>
            <a:lstStyle/>
            <a:p>
              <a:pPr algn="just">
                <a:lnSpc>
                  <a:spcPts val="3920"/>
                </a:lnSpc>
              </a:pPr>
              <a:r>
                <a:rPr lang="en-US" sz="2800">
                  <a:solidFill>
                    <a:srgbClr val="000000"/>
                  </a:solidFill>
                  <a:latin typeface="Canva Sans"/>
                  <a:ea typeface="Canva Sans"/>
                  <a:cs typeface="Canva Sans"/>
                  <a:sym typeface="Canva Sans"/>
                </a:rPr>
                <a:t>Road crashes cause </a:t>
              </a:r>
              <a:r>
                <a:rPr lang="en-US" sz="2800" b="true">
                  <a:solidFill>
                    <a:srgbClr val="000000"/>
                  </a:solidFill>
                  <a:latin typeface="Canva Sans Bold"/>
                  <a:ea typeface="Canva Sans Bold"/>
                  <a:cs typeface="Canva Sans Bold"/>
                  <a:sym typeface="Canva Sans Bold"/>
                </a:rPr>
                <a:t>1.19</a:t>
              </a:r>
              <a:r>
                <a:rPr lang="en-US" sz="2800">
                  <a:solidFill>
                    <a:srgbClr val="000000"/>
                  </a:solidFill>
                  <a:latin typeface="Canva Sans"/>
                  <a:ea typeface="Canva Sans"/>
                  <a:cs typeface="Canva Sans"/>
                  <a:sym typeface="Canva Sans"/>
                </a:rPr>
                <a:t> million annual deaths globally, primarily due to human error and limitations in current vehicle automation. While connected and automated vehicles (</a:t>
              </a:r>
              <a:r>
                <a:rPr lang="en-US" sz="2800" b="true">
                  <a:solidFill>
                    <a:srgbClr val="000000"/>
                  </a:solidFill>
                  <a:latin typeface="Canva Sans Bold"/>
                  <a:ea typeface="Canva Sans Bold"/>
                  <a:cs typeface="Canva Sans Bold"/>
                  <a:sym typeface="Canva Sans Bold"/>
                </a:rPr>
                <a:t>CAVs</a:t>
              </a:r>
              <a:r>
                <a:rPr lang="en-US" sz="2800">
                  <a:solidFill>
                    <a:srgbClr val="000000"/>
                  </a:solidFill>
                  <a:latin typeface="Canva Sans"/>
                  <a:ea typeface="Canva Sans"/>
                  <a:cs typeface="Canva Sans"/>
                  <a:sym typeface="Canva Sans"/>
                </a:rPr>
                <a:t>) promise significant safety improvements, existing systems struggle with real-world complexities unpredictable driver behavior, and imperfect sensors. The critical challenge lies in developing accident prevention systems that reliably handle these uncertainties while maintaining traffic flow efficiency and reducing emissions (potential </a:t>
              </a:r>
              <a:r>
                <a:rPr lang="en-US" sz="2800" b="true">
                  <a:solidFill>
                    <a:srgbClr val="000000"/>
                  </a:solidFill>
                  <a:latin typeface="Canva Sans Bold"/>
                  <a:ea typeface="Canva Sans Bold"/>
                  <a:cs typeface="Canva Sans Bold"/>
                  <a:sym typeface="Canva Sans Bold"/>
                </a:rPr>
                <a:t>15%</a:t>
              </a:r>
              <a:r>
                <a:rPr lang="en-US" sz="2800">
                  <a:solidFill>
                    <a:srgbClr val="000000"/>
                  </a:solidFill>
                  <a:latin typeface="Canva Sans"/>
                  <a:ea typeface="Canva Sans"/>
                  <a:cs typeface="Canva Sans"/>
                  <a:sym typeface="Canva Sans"/>
                </a:rPr>
                <a:t> fuel savings). This demands fundamentally new approaches to vehicle coordination and avoidance.</a:t>
              </a:r>
            </a:p>
          </p:txBody>
        </p:sp>
      </p:grpSp>
      <p:grpSp>
        <p:nvGrpSpPr>
          <p:cNvPr name="Group 128" id="128"/>
          <p:cNvGrpSpPr/>
          <p:nvPr/>
        </p:nvGrpSpPr>
        <p:grpSpPr>
          <a:xfrm rot="0">
            <a:off x="4036985" y="27389230"/>
            <a:ext cx="1972608" cy="2595140"/>
            <a:chOff x="0" y="0"/>
            <a:chExt cx="176524" cy="232233"/>
          </a:xfrm>
        </p:grpSpPr>
        <p:sp>
          <p:nvSpPr>
            <p:cNvPr name="Freeform 129" id="129"/>
            <p:cNvSpPr/>
            <p:nvPr/>
          </p:nvSpPr>
          <p:spPr>
            <a:xfrm flipH="false" flipV="false" rot="0">
              <a:off x="0" y="0"/>
              <a:ext cx="176524" cy="232233"/>
            </a:xfrm>
            <a:custGeom>
              <a:avLst/>
              <a:gdLst/>
              <a:ahLst/>
              <a:cxnLst/>
              <a:rect r="r" b="b" t="t" l="l"/>
              <a:pathLst>
                <a:path h="232233" w="176524">
                  <a:moveTo>
                    <a:pt x="0" y="0"/>
                  </a:moveTo>
                  <a:lnTo>
                    <a:pt x="176524" y="0"/>
                  </a:lnTo>
                  <a:lnTo>
                    <a:pt x="176524" y="232233"/>
                  </a:lnTo>
                  <a:lnTo>
                    <a:pt x="0" y="232233"/>
                  </a:lnTo>
                  <a:close/>
                </a:path>
              </a:pathLst>
            </a:custGeom>
          </p:spPr>
        </p:sp>
        <p:sp>
          <p:nvSpPr>
            <p:cNvPr name="TextBox 130" id="130"/>
            <p:cNvSpPr txBox="true"/>
            <p:nvPr/>
          </p:nvSpPr>
          <p:spPr>
            <a:xfrm>
              <a:off x="0" y="-38100"/>
              <a:ext cx="176524" cy="270333"/>
            </a:xfrm>
            <a:prstGeom prst="rect">
              <a:avLst/>
            </a:prstGeom>
          </p:spPr>
          <p:txBody>
            <a:bodyPr anchor="ctr" rtlCol="false" tIns="50800" lIns="50800" bIns="50800" rIns="50800"/>
            <a:lstStyle/>
            <a:p>
              <a:pPr algn="ctr">
                <a:lnSpc>
                  <a:spcPts val="3359"/>
                </a:lnSpc>
              </a:pPr>
              <a:r>
                <a:rPr lang="en-US" sz="2400">
                  <a:solidFill>
                    <a:srgbClr val="000000"/>
                  </a:solidFill>
                  <a:latin typeface="Canva Sans"/>
                  <a:ea typeface="Canva Sans"/>
                  <a:cs typeface="Canva Sans"/>
                  <a:sym typeface="Canva Sans"/>
                </a:rPr>
                <a:t>Figure 1</a:t>
              </a:r>
            </a:p>
          </p:txBody>
        </p:sp>
      </p:grpSp>
      <p:grpSp>
        <p:nvGrpSpPr>
          <p:cNvPr name="Group 131" id="131"/>
          <p:cNvGrpSpPr/>
          <p:nvPr/>
        </p:nvGrpSpPr>
        <p:grpSpPr>
          <a:xfrm rot="0">
            <a:off x="10929959" y="14200373"/>
            <a:ext cx="6613630" cy="1329309"/>
            <a:chOff x="0" y="0"/>
            <a:chExt cx="591839" cy="118957"/>
          </a:xfrm>
        </p:grpSpPr>
        <p:sp>
          <p:nvSpPr>
            <p:cNvPr name="Freeform 132" id="132"/>
            <p:cNvSpPr/>
            <p:nvPr/>
          </p:nvSpPr>
          <p:spPr>
            <a:xfrm flipH="false" flipV="false" rot="0">
              <a:off x="0" y="0"/>
              <a:ext cx="591839" cy="118957"/>
            </a:xfrm>
            <a:custGeom>
              <a:avLst/>
              <a:gdLst/>
              <a:ahLst/>
              <a:cxnLst/>
              <a:rect r="r" b="b" t="t" l="l"/>
              <a:pathLst>
                <a:path h="118957" w="591839">
                  <a:moveTo>
                    <a:pt x="46824" y="0"/>
                  </a:moveTo>
                  <a:lnTo>
                    <a:pt x="545015" y="0"/>
                  </a:lnTo>
                  <a:cubicBezTo>
                    <a:pt x="570876" y="0"/>
                    <a:pt x="591839" y="20964"/>
                    <a:pt x="591839" y="46824"/>
                  </a:cubicBezTo>
                  <a:lnTo>
                    <a:pt x="591839" y="72133"/>
                  </a:lnTo>
                  <a:cubicBezTo>
                    <a:pt x="591839" y="97993"/>
                    <a:pt x="570876" y="118957"/>
                    <a:pt x="545015" y="118957"/>
                  </a:cubicBezTo>
                  <a:lnTo>
                    <a:pt x="46824" y="118957"/>
                  </a:lnTo>
                  <a:cubicBezTo>
                    <a:pt x="20964" y="118957"/>
                    <a:pt x="0" y="97993"/>
                    <a:pt x="0" y="72133"/>
                  </a:cubicBezTo>
                  <a:lnTo>
                    <a:pt x="0" y="46824"/>
                  </a:lnTo>
                  <a:cubicBezTo>
                    <a:pt x="0" y="20964"/>
                    <a:pt x="20964" y="0"/>
                    <a:pt x="46824" y="0"/>
                  </a:cubicBezTo>
                  <a:close/>
                </a:path>
              </a:pathLst>
            </a:custGeom>
            <a:ln cap="rnd">
              <a:noFill/>
              <a:prstDash val="solid"/>
              <a:round/>
            </a:ln>
          </p:spPr>
        </p:sp>
        <p:sp>
          <p:nvSpPr>
            <p:cNvPr name="TextBox 133" id="133"/>
            <p:cNvSpPr txBox="true"/>
            <p:nvPr/>
          </p:nvSpPr>
          <p:spPr>
            <a:xfrm>
              <a:off x="0" y="-57150"/>
              <a:ext cx="591839" cy="176107"/>
            </a:xfrm>
            <a:prstGeom prst="rect">
              <a:avLst/>
            </a:prstGeom>
          </p:spPr>
          <p:txBody>
            <a:bodyPr anchor="ctr" rtlCol="false" tIns="50800" lIns="50800" bIns="50800" rIns="50800"/>
            <a:lstStyle/>
            <a:p>
              <a:pPr algn="just" marL="647718" indent="-323859" lvl="1">
                <a:lnSpc>
                  <a:spcPts val="4200"/>
                </a:lnSpc>
                <a:buFont typeface="Arial"/>
                <a:buChar char="•"/>
              </a:pPr>
              <a:r>
                <a:rPr lang="en-US" b="true" sz="3000">
                  <a:solidFill>
                    <a:srgbClr val="000000"/>
                  </a:solidFill>
                  <a:latin typeface="Canva Sans Bold"/>
                  <a:ea typeface="Canva Sans Bold"/>
                  <a:cs typeface="Canva Sans Bold"/>
                  <a:sym typeface="Canva Sans Bold"/>
                </a:rPr>
                <a:t>MPC's Cost Function:</a:t>
              </a:r>
            </a:p>
            <a:p>
              <a:pPr algn="just">
                <a:lnSpc>
                  <a:spcPts val="4200"/>
                </a:lnSpc>
              </a:pPr>
            </a:p>
          </p:txBody>
        </p:sp>
      </p:grpSp>
      <p:grpSp>
        <p:nvGrpSpPr>
          <p:cNvPr name="Group 134" id="134"/>
          <p:cNvGrpSpPr/>
          <p:nvPr/>
        </p:nvGrpSpPr>
        <p:grpSpPr>
          <a:xfrm rot="0">
            <a:off x="15017146" y="26443389"/>
            <a:ext cx="1972608" cy="2595140"/>
            <a:chOff x="0" y="0"/>
            <a:chExt cx="176524" cy="232233"/>
          </a:xfrm>
        </p:grpSpPr>
        <p:sp>
          <p:nvSpPr>
            <p:cNvPr name="Freeform 135" id="135"/>
            <p:cNvSpPr/>
            <p:nvPr/>
          </p:nvSpPr>
          <p:spPr>
            <a:xfrm flipH="false" flipV="false" rot="0">
              <a:off x="0" y="0"/>
              <a:ext cx="176524" cy="232233"/>
            </a:xfrm>
            <a:custGeom>
              <a:avLst/>
              <a:gdLst/>
              <a:ahLst/>
              <a:cxnLst/>
              <a:rect r="r" b="b" t="t" l="l"/>
              <a:pathLst>
                <a:path h="232233" w="176524">
                  <a:moveTo>
                    <a:pt x="0" y="0"/>
                  </a:moveTo>
                  <a:lnTo>
                    <a:pt x="176524" y="0"/>
                  </a:lnTo>
                  <a:lnTo>
                    <a:pt x="176524" y="232233"/>
                  </a:lnTo>
                  <a:lnTo>
                    <a:pt x="0" y="232233"/>
                  </a:lnTo>
                  <a:close/>
                </a:path>
              </a:pathLst>
            </a:custGeom>
          </p:spPr>
        </p:sp>
        <p:sp>
          <p:nvSpPr>
            <p:cNvPr name="TextBox 136" id="136"/>
            <p:cNvSpPr txBox="true"/>
            <p:nvPr/>
          </p:nvSpPr>
          <p:spPr>
            <a:xfrm>
              <a:off x="0" y="-38100"/>
              <a:ext cx="176524" cy="270333"/>
            </a:xfrm>
            <a:prstGeom prst="rect">
              <a:avLst/>
            </a:prstGeom>
          </p:spPr>
          <p:txBody>
            <a:bodyPr anchor="ctr" rtlCol="false" tIns="50800" lIns="50800" bIns="50800" rIns="50800"/>
            <a:lstStyle/>
            <a:p>
              <a:pPr algn="ctr">
                <a:lnSpc>
                  <a:spcPts val="3359"/>
                </a:lnSpc>
              </a:pPr>
              <a:r>
                <a:rPr lang="en-US" sz="2400">
                  <a:solidFill>
                    <a:srgbClr val="000000"/>
                  </a:solidFill>
                  <a:latin typeface="Canva Sans"/>
                  <a:ea typeface="Canva Sans"/>
                  <a:cs typeface="Canva Sans"/>
                  <a:sym typeface="Canva Sans"/>
                </a:rPr>
                <a:t>Figure 3</a:t>
              </a:r>
            </a:p>
          </p:txBody>
        </p:sp>
      </p:grpSp>
      <p:grpSp>
        <p:nvGrpSpPr>
          <p:cNvPr name="Group 137" id="137"/>
          <p:cNvGrpSpPr/>
          <p:nvPr/>
        </p:nvGrpSpPr>
        <p:grpSpPr>
          <a:xfrm rot="0">
            <a:off x="24331317" y="16668803"/>
            <a:ext cx="1972608" cy="2595140"/>
            <a:chOff x="0" y="0"/>
            <a:chExt cx="176524" cy="232233"/>
          </a:xfrm>
        </p:grpSpPr>
        <p:sp>
          <p:nvSpPr>
            <p:cNvPr name="Freeform 138" id="138"/>
            <p:cNvSpPr/>
            <p:nvPr/>
          </p:nvSpPr>
          <p:spPr>
            <a:xfrm flipH="false" flipV="false" rot="0">
              <a:off x="0" y="0"/>
              <a:ext cx="176524" cy="232233"/>
            </a:xfrm>
            <a:custGeom>
              <a:avLst/>
              <a:gdLst/>
              <a:ahLst/>
              <a:cxnLst/>
              <a:rect r="r" b="b" t="t" l="l"/>
              <a:pathLst>
                <a:path h="232233" w="176524">
                  <a:moveTo>
                    <a:pt x="0" y="0"/>
                  </a:moveTo>
                  <a:lnTo>
                    <a:pt x="176524" y="0"/>
                  </a:lnTo>
                  <a:lnTo>
                    <a:pt x="176524" y="232233"/>
                  </a:lnTo>
                  <a:lnTo>
                    <a:pt x="0" y="232233"/>
                  </a:lnTo>
                  <a:close/>
                </a:path>
              </a:pathLst>
            </a:custGeom>
          </p:spPr>
        </p:sp>
        <p:sp>
          <p:nvSpPr>
            <p:cNvPr name="TextBox 139" id="139"/>
            <p:cNvSpPr txBox="true"/>
            <p:nvPr/>
          </p:nvSpPr>
          <p:spPr>
            <a:xfrm>
              <a:off x="0" y="-38100"/>
              <a:ext cx="176524" cy="270333"/>
            </a:xfrm>
            <a:prstGeom prst="rect">
              <a:avLst/>
            </a:prstGeom>
          </p:spPr>
          <p:txBody>
            <a:bodyPr anchor="ctr" rtlCol="false" tIns="50800" lIns="50800" bIns="50800" rIns="50800"/>
            <a:lstStyle/>
            <a:p>
              <a:pPr algn="ctr">
                <a:lnSpc>
                  <a:spcPts val="3359"/>
                </a:lnSpc>
              </a:pPr>
              <a:r>
                <a:rPr lang="en-US" sz="2400">
                  <a:solidFill>
                    <a:srgbClr val="000000"/>
                  </a:solidFill>
                  <a:latin typeface="Canva Sans"/>
                  <a:ea typeface="Canva Sans"/>
                  <a:cs typeface="Canva Sans"/>
                  <a:sym typeface="Canva Sans"/>
                </a:rPr>
                <a:t>Figure 4</a:t>
              </a:r>
            </a:p>
          </p:txBody>
        </p:sp>
      </p:grpSp>
      <p:grpSp>
        <p:nvGrpSpPr>
          <p:cNvPr name="Group 140" id="140"/>
          <p:cNvGrpSpPr/>
          <p:nvPr/>
        </p:nvGrpSpPr>
        <p:grpSpPr>
          <a:xfrm rot="0">
            <a:off x="21456340" y="36116514"/>
            <a:ext cx="6074008" cy="4849826"/>
            <a:chOff x="0" y="0"/>
            <a:chExt cx="543550" cy="434000"/>
          </a:xfrm>
        </p:grpSpPr>
        <p:sp>
          <p:nvSpPr>
            <p:cNvPr name="Freeform 141" id="141"/>
            <p:cNvSpPr/>
            <p:nvPr/>
          </p:nvSpPr>
          <p:spPr>
            <a:xfrm flipH="false" flipV="false" rot="0">
              <a:off x="0" y="0"/>
              <a:ext cx="543550" cy="434000"/>
            </a:xfrm>
            <a:custGeom>
              <a:avLst/>
              <a:gdLst/>
              <a:ahLst/>
              <a:cxnLst/>
              <a:rect r="r" b="b" t="t" l="l"/>
              <a:pathLst>
                <a:path h="434000" w="543550">
                  <a:moveTo>
                    <a:pt x="0" y="0"/>
                  </a:moveTo>
                  <a:lnTo>
                    <a:pt x="543550" y="0"/>
                  </a:lnTo>
                  <a:lnTo>
                    <a:pt x="543550" y="434000"/>
                  </a:lnTo>
                  <a:lnTo>
                    <a:pt x="0" y="434000"/>
                  </a:lnTo>
                  <a:close/>
                </a:path>
              </a:pathLst>
            </a:custGeom>
            <a:ln cap="sq">
              <a:noFill/>
              <a:prstDash val="solid"/>
              <a:miter/>
            </a:ln>
          </p:spPr>
        </p:sp>
        <p:sp>
          <p:nvSpPr>
            <p:cNvPr name="TextBox 142" id="142"/>
            <p:cNvSpPr txBox="true"/>
            <p:nvPr/>
          </p:nvSpPr>
          <p:spPr>
            <a:xfrm>
              <a:off x="0" y="-38100"/>
              <a:ext cx="543550" cy="472100"/>
            </a:xfrm>
            <a:prstGeom prst="rect">
              <a:avLst/>
            </a:prstGeom>
          </p:spPr>
          <p:txBody>
            <a:bodyPr anchor="t" rtlCol="false" tIns="1068122" lIns="50800" bIns="50800" rIns="50800"/>
            <a:lstStyle/>
            <a:p>
              <a:pPr algn="just">
                <a:lnSpc>
                  <a:spcPts val="2660"/>
                </a:lnSpc>
              </a:pPr>
              <a:r>
                <a:rPr lang="en-US" sz="1900">
                  <a:solidFill>
                    <a:srgbClr val="000000"/>
                  </a:solidFill>
                  <a:latin typeface="Canva Sans"/>
                  <a:ea typeface="Canva Sans"/>
                  <a:cs typeface="Canva Sans"/>
                  <a:sym typeface="Canva Sans"/>
                </a:rPr>
                <a:t>[1] S. Wei et al. An integrated longitudinal and lateral vehicle-following control system with radar and V2V communication. IEEE Trans. Veh. Technol., 68(2):1116–1127, 2019.</a:t>
              </a:r>
            </a:p>
            <a:p>
              <a:pPr algn="just">
                <a:lnSpc>
                  <a:spcPts val="2660"/>
                </a:lnSpc>
              </a:pPr>
              <a:r>
                <a:rPr lang="en-US" sz="1900">
                  <a:solidFill>
                    <a:srgbClr val="000000"/>
                  </a:solidFill>
                  <a:latin typeface="Canva Sans"/>
                  <a:ea typeface="Canva Sans"/>
                  <a:cs typeface="Canva Sans"/>
                  <a:sym typeface="Canva Sans"/>
                </a:rPr>
                <a:t>[2] A. Farea et al. Understanding physics-informed neural networks: techniques, applications, trends, and challenges. AI, 5(3):1534–1557, 2024.</a:t>
              </a:r>
            </a:p>
            <a:p>
              <a:pPr algn="just">
                <a:lnSpc>
                  <a:spcPts val="2660"/>
                </a:lnSpc>
              </a:pPr>
              <a:r>
                <a:rPr lang="en-US" sz="1900">
                  <a:solidFill>
                    <a:srgbClr val="000000"/>
                  </a:solidFill>
                  <a:latin typeface="Canva Sans"/>
                  <a:ea typeface="Canva Sans"/>
                  <a:cs typeface="Canva Sans"/>
                  <a:sym typeface="Canva Sans"/>
                </a:rPr>
                <a:t>[3] E. A. Antonelo et al. Physics-informed neural nets for control of dynamical systems. Neurocomputing, 579:127419, 2024.</a:t>
              </a:r>
            </a:p>
          </p:txBody>
        </p:sp>
      </p:grpSp>
      <p:grpSp>
        <p:nvGrpSpPr>
          <p:cNvPr name="Group 143" id="143"/>
          <p:cNvGrpSpPr/>
          <p:nvPr/>
        </p:nvGrpSpPr>
        <p:grpSpPr>
          <a:xfrm rot="0">
            <a:off x="10826893" y="25149758"/>
            <a:ext cx="9934964" cy="18040744"/>
            <a:chOff x="0" y="0"/>
            <a:chExt cx="889058" cy="1614427"/>
          </a:xfrm>
        </p:grpSpPr>
        <p:sp>
          <p:nvSpPr>
            <p:cNvPr name="Freeform 144" id="144"/>
            <p:cNvSpPr/>
            <p:nvPr/>
          </p:nvSpPr>
          <p:spPr>
            <a:xfrm flipH="false" flipV="false" rot="0">
              <a:off x="0" y="0"/>
              <a:ext cx="889058" cy="1614427"/>
            </a:xfrm>
            <a:custGeom>
              <a:avLst/>
              <a:gdLst/>
              <a:ahLst/>
              <a:cxnLst/>
              <a:rect r="r" b="b" t="t" l="l"/>
              <a:pathLst>
                <a:path h="1614427" w="889058">
                  <a:moveTo>
                    <a:pt x="0" y="0"/>
                  </a:moveTo>
                  <a:lnTo>
                    <a:pt x="889058" y="0"/>
                  </a:lnTo>
                  <a:lnTo>
                    <a:pt x="889058" y="1614427"/>
                  </a:lnTo>
                  <a:lnTo>
                    <a:pt x="0" y="1614427"/>
                  </a:lnTo>
                  <a:close/>
                </a:path>
              </a:pathLst>
            </a:custGeom>
            <a:ln cap="sq">
              <a:noFill/>
              <a:prstDash val="solid"/>
              <a:miter/>
            </a:ln>
          </p:spPr>
        </p:sp>
        <p:sp>
          <p:nvSpPr>
            <p:cNvPr name="TextBox 145" id="145"/>
            <p:cNvSpPr txBox="true"/>
            <p:nvPr/>
          </p:nvSpPr>
          <p:spPr>
            <a:xfrm>
              <a:off x="0" y="-57150"/>
              <a:ext cx="889058" cy="1671577"/>
            </a:xfrm>
            <a:prstGeom prst="rect">
              <a:avLst/>
            </a:prstGeom>
          </p:spPr>
          <p:txBody>
            <a:bodyPr anchor="t" rtlCol="false" tIns="4109596" lIns="50800" bIns="50800" rIns="50800"/>
            <a:lstStyle/>
            <a:p>
              <a:pPr algn="just">
                <a:lnSpc>
                  <a:spcPts val="4200"/>
                </a:lnSpc>
              </a:pPr>
              <a:r>
                <a:rPr lang="en-US" b="true" sz="3000">
                  <a:solidFill>
                    <a:srgbClr val="000000"/>
                  </a:solidFill>
                  <a:latin typeface="Canva Sans Bold"/>
                  <a:ea typeface="Canva Sans Bold"/>
                  <a:cs typeface="Canva Sans Bold"/>
                  <a:sym typeface="Canva Sans Bold"/>
                </a:rPr>
                <a:t>Does PINC learn the physics?</a:t>
              </a:r>
            </a:p>
            <a:p>
              <a:pPr algn="just">
                <a:lnSpc>
                  <a:spcPts val="3920"/>
                </a:lnSpc>
              </a:pPr>
              <a:r>
                <a:rPr lang="en-US" b="true" sz="2800">
                  <a:solidFill>
                    <a:srgbClr val="000000"/>
                  </a:solidFill>
                  <a:latin typeface="Canva Sans Bold"/>
                  <a:ea typeface="Canva Sans Bold"/>
                  <a:cs typeface="Canva Sans Bold"/>
                  <a:sym typeface="Canva Sans Bold"/>
                </a:rPr>
                <a:t>Prediction (5 training seeds):</a:t>
              </a:r>
            </a:p>
            <a:p>
              <a:pPr algn="just" marL="604539" indent="-302269" lvl="1">
                <a:lnSpc>
                  <a:spcPts val="3360"/>
                </a:lnSpc>
                <a:buFont typeface="Arial"/>
                <a:buChar char="•"/>
              </a:pPr>
              <a:r>
                <a:rPr lang="en-US" sz="2800">
                  <a:solidFill>
                    <a:srgbClr val="000000"/>
                  </a:solidFill>
                  <a:latin typeface="Canva Sans"/>
                  <a:ea typeface="Canva Sans"/>
                  <a:cs typeface="Canva Sans"/>
                  <a:sym typeface="Canva Sans"/>
                </a:rPr>
                <a:t xml:space="preserve">Learned dynamics </a:t>
              </a:r>
              <a:r>
                <a:rPr lang="en-US" b="true" sz="2800">
                  <a:solidFill>
                    <a:srgbClr val="000000"/>
                  </a:solidFill>
                  <a:latin typeface="Canva Sans Bold"/>
                  <a:ea typeface="Canva Sans Bold"/>
                  <a:cs typeface="Canva Sans Bold"/>
                  <a:sym typeface="Canva Sans Bold"/>
                </a:rPr>
                <a:t>13×</a:t>
              </a:r>
              <a:r>
                <a:rPr lang="en-US" sz="2800">
                  <a:solidFill>
                    <a:srgbClr val="000000"/>
                  </a:solidFill>
                  <a:latin typeface="Canva Sans"/>
                  <a:ea typeface="Canva Sans"/>
                  <a:cs typeface="Canva Sans"/>
                  <a:sym typeface="Canva Sans"/>
                </a:rPr>
                <a:t xml:space="preserve"> more accurate than the data-only network.</a:t>
              </a:r>
            </a:p>
            <a:p>
              <a:pPr algn="just" marL="604539" indent="-302269" lvl="1">
                <a:lnSpc>
                  <a:spcPts val="3360"/>
                </a:lnSpc>
                <a:buFont typeface="Arial"/>
                <a:buChar char="•"/>
              </a:pPr>
              <a:r>
                <a:rPr lang="en-US" sz="2800">
                  <a:solidFill>
                    <a:srgbClr val="000000"/>
                  </a:solidFill>
                  <a:latin typeface="Canva Sans"/>
                  <a:ea typeface="Canva Sans"/>
                  <a:cs typeface="Canva Sans"/>
                  <a:sym typeface="Canva Sans"/>
                </a:rPr>
                <a:t xml:space="preserve">50-step prediction error </a:t>
              </a:r>
              <a:r>
                <a:rPr lang="en-US" b="true" sz="2800">
                  <a:solidFill>
                    <a:srgbClr val="000000"/>
                  </a:solidFill>
                  <a:latin typeface="Canva Sans Bold"/>
                  <a:ea typeface="Canva Sans Bold"/>
                  <a:cs typeface="Canva Sans Bold"/>
                  <a:sym typeface="Canva Sans Bold"/>
                </a:rPr>
                <a:t>2.2×</a:t>
              </a:r>
              <a:r>
                <a:rPr lang="en-US" sz="2800">
                  <a:solidFill>
                    <a:srgbClr val="000000"/>
                  </a:solidFill>
                  <a:latin typeface="Canva Sans"/>
                  <a:ea typeface="Canva Sans"/>
                  <a:cs typeface="Canva Sans"/>
                  <a:sym typeface="Canva Sans"/>
                </a:rPr>
                <a:t xml:space="preserve"> lower, and </a:t>
              </a:r>
              <a:r>
                <a:rPr lang="en-US" b="true" sz="2800">
                  <a:solidFill>
                    <a:srgbClr val="000000"/>
                  </a:solidFill>
                  <a:latin typeface="Canva Sans Bold"/>
                  <a:ea typeface="Canva Sans Bold"/>
                  <a:cs typeface="Canva Sans Bold"/>
                  <a:sym typeface="Canva Sans Bold"/>
                </a:rPr>
                <a:t>2.6×</a:t>
              </a:r>
              <a:r>
                <a:rPr lang="en-US" sz="2800">
                  <a:solidFill>
                    <a:srgbClr val="000000"/>
                  </a:solidFill>
                  <a:latin typeface="Canva Sans"/>
                  <a:ea typeface="Canva Sans"/>
                  <a:cs typeface="Canva Sans"/>
                  <a:sym typeface="Canva Sans"/>
                </a:rPr>
                <a:t xml:space="preserve"> lower outside the training range (Figure 3, left).</a:t>
              </a:r>
            </a:p>
            <a:p>
              <a:pPr algn="just" marL="604539" indent="-302269" lvl="1">
                <a:lnSpc>
                  <a:spcPts val="3360"/>
                </a:lnSpc>
                <a:buFont typeface="Arial"/>
                <a:buChar char="•"/>
              </a:pPr>
              <a:r>
                <a:rPr lang="en-US" sz="2800">
                  <a:solidFill>
                    <a:srgbClr val="000000"/>
                  </a:solidFill>
                  <a:latin typeface="Canva Sans"/>
                  <a:ea typeface="Canva Sans"/>
                  <a:cs typeface="Canva Sans"/>
                  <a:sym typeface="Canva Sans"/>
                </a:rPr>
                <a:t xml:space="preserve">With only </a:t>
              </a:r>
              <a:r>
                <a:rPr lang="en-US" b="true" sz="2800">
                  <a:solidFill>
                    <a:srgbClr val="000000"/>
                  </a:solidFill>
                  <a:latin typeface="Canva Sans Bold"/>
                  <a:ea typeface="Canva Sans Bold"/>
                  <a:cs typeface="Canva Sans Bold"/>
                  <a:sym typeface="Canva Sans Bold"/>
                </a:rPr>
                <a:t>100</a:t>
              </a:r>
              <a:r>
                <a:rPr lang="en-US" sz="2800">
                  <a:solidFill>
                    <a:srgbClr val="000000"/>
                  </a:solidFill>
                  <a:latin typeface="Canva Sans"/>
                  <a:ea typeface="Canva Sans"/>
                  <a:cs typeface="Canva Sans"/>
                  <a:sym typeface="Canva Sans"/>
                </a:rPr>
                <a:t xml:space="preserve"> training trajectories, </a:t>
              </a:r>
              <a:r>
                <a:rPr lang="en-US" b="true" sz="2800">
                  <a:solidFill>
                    <a:srgbClr val="000000"/>
                  </a:solidFill>
                  <a:latin typeface="Canva Sans Bold"/>
                  <a:ea typeface="Canva Sans Bold"/>
                  <a:cs typeface="Canva Sans Bold"/>
                  <a:sym typeface="Canva Sans Bold"/>
                </a:rPr>
                <a:t>14×</a:t>
              </a:r>
              <a:r>
                <a:rPr lang="en-US" sz="2800">
                  <a:solidFill>
                    <a:srgbClr val="000000"/>
                  </a:solidFill>
                  <a:latin typeface="Canva Sans"/>
                  <a:ea typeface="Canva Sans"/>
                  <a:cs typeface="Canva Sans"/>
                  <a:sym typeface="Canva Sans"/>
                </a:rPr>
                <a:t xml:space="preserve"> more accurate (Figure 5).</a:t>
              </a:r>
            </a:p>
            <a:p>
              <a:pPr algn="just">
                <a:lnSpc>
                  <a:spcPts val="4200"/>
                </a:lnSpc>
              </a:pPr>
            </a:p>
            <a:p>
              <a:pPr algn="just">
                <a:lnSpc>
                  <a:spcPts val="4200"/>
                </a:lnSpc>
              </a:pPr>
              <a:r>
                <a:rPr lang="en-US" b="true" sz="3000">
                  <a:solidFill>
                    <a:srgbClr val="000000"/>
                  </a:solidFill>
                  <a:latin typeface="Canva Sans Bold"/>
                  <a:ea typeface="Canva Sans Bold"/>
                  <a:cs typeface="Canva Sans Bold"/>
                  <a:sym typeface="Canva Sans Bold"/>
                </a:rPr>
                <a:t>Closed-Loop Control:</a:t>
              </a:r>
            </a:p>
            <a:p>
              <a:pPr algn="just">
                <a:lnSpc>
                  <a:spcPts val="3920"/>
                </a:lnSpc>
              </a:pPr>
              <a:r>
                <a:rPr lang="en-US" b="true" sz="2800">
                  <a:solidFill>
                    <a:srgbClr val="000000"/>
                  </a:solidFill>
                  <a:latin typeface="Canva Sans Bold"/>
                  <a:ea typeface="Canva Sans Bold"/>
                  <a:cs typeface="Canva Sans Bold"/>
                  <a:sym typeface="Canva Sans Bold"/>
                </a:rPr>
                <a:t>4 manoeuvres × 30 noisy runs:</a:t>
              </a:r>
            </a:p>
            <a:p>
              <a:pPr algn="just" marL="604539" indent="-302269" lvl="1">
                <a:lnSpc>
                  <a:spcPts val="3360"/>
                </a:lnSpc>
                <a:buFont typeface="Arial"/>
                <a:buChar char="•"/>
              </a:pPr>
              <a:r>
                <a:rPr lang="en-US" b="true" sz="2800">
                  <a:solidFill>
                    <a:srgbClr val="000000"/>
                  </a:solidFill>
                  <a:latin typeface="Canva Sans Bold"/>
                  <a:ea typeface="Canva Sans Bold"/>
                  <a:cs typeface="Canva Sans Bold"/>
                  <a:sym typeface="Canva Sans Bold"/>
                </a:rPr>
                <a:t>PINC-MPC</a:t>
              </a:r>
              <a:r>
                <a:rPr lang="en-US" sz="2800">
                  <a:solidFill>
                    <a:srgbClr val="000000"/>
                  </a:solidFill>
                  <a:latin typeface="Canva Sans"/>
                  <a:ea typeface="Canva Sans"/>
                  <a:cs typeface="Canva Sans"/>
                  <a:sym typeface="Canva Sans"/>
                </a:rPr>
                <a:t xml:space="preserve"> matches the exact-model MPC (lane change: </a:t>
              </a:r>
              <a:r>
                <a:rPr lang="en-US" b="true" sz="2800">
                  <a:solidFill>
                    <a:srgbClr val="000000"/>
                  </a:solidFill>
                  <a:latin typeface="Canva Sans Bold"/>
                  <a:ea typeface="Canva Sans Bold"/>
                  <a:cs typeface="Canva Sans Bold"/>
                  <a:sym typeface="Canva Sans Bold"/>
                </a:rPr>
                <a:t>3.3</a:t>
              </a:r>
              <a:r>
                <a:rPr lang="en-US" sz="2800">
                  <a:solidFill>
                    <a:srgbClr val="000000"/>
                  </a:solidFill>
                  <a:latin typeface="Canva Sans"/>
                  <a:ea typeface="Canva Sans"/>
                  <a:cs typeface="Canva Sans"/>
                  <a:sym typeface="Canva Sans"/>
                </a:rPr>
                <a:t xml:space="preserve"> cm vs </a:t>
              </a:r>
              <a:r>
                <a:rPr lang="en-US" b="true" sz="2800">
                  <a:solidFill>
                    <a:srgbClr val="000000"/>
                  </a:solidFill>
                  <a:latin typeface="Canva Sans Bold"/>
                  <a:ea typeface="Canva Sans Bold"/>
                  <a:cs typeface="Canva Sans Bold"/>
                  <a:sym typeface="Canva Sans Bold"/>
                </a:rPr>
                <a:t>3.3</a:t>
              </a:r>
              <a:r>
                <a:rPr lang="en-US" sz="2800">
                  <a:solidFill>
                    <a:srgbClr val="000000"/>
                  </a:solidFill>
                  <a:latin typeface="Canva Sans"/>
                  <a:ea typeface="Canva Sans"/>
                  <a:cs typeface="Canva Sans"/>
                  <a:sym typeface="Canva Sans"/>
                </a:rPr>
                <a:t xml:space="preserve"> cm error).</a:t>
              </a:r>
            </a:p>
            <a:p>
              <a:pPr algn="just" marL="604539" indent="-302269" lvl="1">
                <a:lnSpc>
                  <a:spcPts val="3360"/>
                </a:lnSpc>
                <a:buFont typeface="Arial"/>
                <a:buChar char="•"/>
              </a:pPr>
              <a:r>
                <a:rPr lang="en-US" sz="2800">
                  <a:solidFill>
                    <a:srgbClr val="000000"/>
                  </a:solidFill>
                  <a:latin typeface="Canva Sans"/>
                  <a:ea typeface="Canva Sans"/>
                  <a:cs typeface="Canva Sans"/>
                  <a:sym typeface="Canva Sans"/>
                </a:rPr>
                <a:t xml:space="preserve">The data-only MPC drifts in speed: median error </a:t>
              </a:r>
              <a:r>
                <a:rPr lang="en-US" b="true" sz="2800">
                  <a:solidFill>
                    <a:srgbClr val="000000"/>
                  </a:solidFill>
                  <a:latin typeface="Canva Sans Bold"/>
                  <a:ea typeface="Canva Sans Bold"/>
                  <a:cs typeface="Canva Sans Bold"/>
                  <a:sym typeface="Canva Sans Bold"/>
                </a:rPr>
                <a:t>1.8×</a:t>
              </a:r>
              <a:r>
                <a:rPr lang="en-US" sz="2800">
                  <a:solidFill>
                    <a:srgbClr val="000000"/>
                  </a:solidFill>
                  <a:latin typeface="Canva Sans"/>
                  <a:ea typeface="Canva Sans"/>
                  <a:cs typeface="Canva Sans"/>
                  <a:sym typeface="Canva Sans"/>
                </a:rPr>
                <a:t xml:space="preserve"> higher, in all </a:t>
              </a:r>
              <a:r>
                <a:rPr lang="en-US" b="true" sz="2800">
                  <a:solidFill>
                    <a:srgbClr val="000000"/>
                  </a:solidFill>
                  <a:latin typeface="Canva Sans Bold"/>
                  <a:ea typeface="Canva Sans Bold"/>
                  <a:cs typeface="Canva Sans Bold"/>
                  <a:sym typeface="Canva Sans Bold"/>
                </a:rPr>
                <a:t>30</a:t>
              </a:r>
              <a:r>
                <a:rPr lang="en-US" sz="2800">
                  <a:solidFill>
                    <a:srgbClr val="000000"/>
                  </a:solidFill>
                  <a:latin typeface="Canva Sans"/>
                  <a:ea typeface="Canva Sans"/>
                  <a:cs typeface="Canva Sans"/>
                  <a:sym typeface="Canva Sans"/>
                </a:rPr>
                <a:t xml:space="preserve"> runs (Figure 3, right).</a:t>
              </a:r>
            </a:p>
            <a:p>
              <a:pPr algn="just" marL="604539" indent="-302269" lvl="1">
                <a:lnSpc>
                  <a:spcPts val="3360"/>
                </a:lnSpc>
                <a:buFont typeface="Arial"/>
                <a:buChar char="•"/>
              </a:pPr>
              <a:r>
                <a:rPr lang="en-US" sz="2800">
                  <a:solidFill>
                    <a:srgbClr val="000000"/>
                  </a:solidFill>
                  <a:latin typeface="Canva Sans"/>
                  <a:ea typeface="Canva Sans"/>
                  <a:cs typeface="Canva Sans"/>
                  <a:sym typeface="Canva Sans"/>
                </a:rPr>
                <a:t xml:space="preserve">Not faster than the exact model at short horizons; </a:t>
              </a:r>
              <a:r>
                <a:rPr lang="en-US" b="true" sz="2800">
                  <a:solidFill>
                    <a:srgbClr val="000000"/>
                  </a:solidFill>
                  <a:latin typeface="Canva Sans Bold"/>
                  <a:ea typeface="Canva Sans Bold"/>
                  <a:cs typeface="Canva Sans Bold"/>
                  <a:sym typeface="Canva Sans Bold"/>
                </a:rPr>
                <a:t>1.5×</a:t>
              </a:r>
              <a:r>
                <a:rPr lang="en-US" sz="2800">
                  <a:solidFill>
                    <a:srgbClr val="000000"/>
                  </a:solidFill>
                  <a:latin typeface="Canva Sans"/>
                  <a:ea typeface="Canva Sans"/>
                  <a:cs typeface="Canva Sans"/>
                  <a:sym typeface="Canva Sans"/>
                </a:rPr>
                <a:t xml:space="preserve"> faster at </a:t>
              </a:r>
              <a:r>
                <a:rPr lang="en-US" b="true" sz="2800">
                  <a:solidFill>
                    <a:srgbClr val="000000"/>
                  </a:solidFill>
                  <a:latin typeface="Canva Sans Bold"/>
                  <a:ea typeface="Canva Sans Bold"/>
                  <a:cs typeface="Canva Sans Bold"/>
                  <a:sym typeface="Canva Sans Bold"/>
                </a:rPr>
                <a:t>40</a:t>
              </a:r>
              <a:r>
                <a:rPr lang="en-US" sz="2800">
                  <a:solidFill>
                    <a:srgbClr val="000000"/>
                  </a:solidFill>
                  <a:latin typeface="Canva Sans"/>
                  <a:ea typeface="Canva Sans"/>
                  <a:cs typeface="Canva Sans"/>
                  <a:sym typeface="Canva Sans"/>
                </a:rPr>
                <a:t xml:space="preserve"> steps.</a:t>
              </a:r>
            </a:p>
          </p:txBody>
        </p:sp>
      </p:grpSp>
      <p:sp>
        <p:nvSpPr>
          <p:cNvPr name="Freeform 146" id="146"/>
          <p:cNvSpPr/>
          <p:nvPr/>
        </p:nvSpPr>
        <p:spPr>
          <a:xfrm flipH="false" flipV="false" rot="0">
            <a:off x="11968901" y="14798353"/>
            <a:ext cx="6204266" cy="806510"/>
          </a:xfrm>
          <a:custGeom>
            <a:avLst/>
            <a:gdLst/>
            <a:ahLst/>
            <a:cxnLst/>
            <a:rect r="r" b="b" t="t" l="l"/>
            <a:pathLst>
              <a:path h="806510" w="6204266">
                <a:moveTo>
                  <a:pt x="0" y="0"/>
                </a:moveTo>
                <a:lnTo>
                  <a:pt x="6204266" y="0"/>
                </a:lnTo>
                <a:lnTo>
                  <a:pt x="6204266" y="806510"/>
                </a:lnTo>
                <a:lnTo>
                  <a:pt x="0" y="806510"/>
                </a:lnTo>
                <a:lnTo>
                  <a:pt x="0" y="0"/>
                </a:lnTo>
                <a:close/>
              </a:path>
            </a:pathLst>
          </a:custGeom>
          <a:blipFill>
            <a:blip r:embed="rId28"/>
            <a:stretch>
              <a:fillRect/>
            </a:stretch>
          </a:blipFill>
        </p:spPr>
      </p:sp>
      <p:sp>
        <p:nvSpPr>
          <p:cNvPr name="Freeform 147" id="147"/>
          <p:cNvSpPr/>
          <p:nvPr/>
        </p:nvSpPr>
        <p:spPr>
          <a:xfrm flipH="false" flipV="false" rot="0">
            <a:off x="12086297" y="15938715"/>
            <a:ext cx="4450242" cy="1460176"/>
          </a:xfrm>
          <a:custGeom>
            <a:avLst/>
            <a:gdLst/>
            <a:ahLst/>
            <a:cxnLst/>
            <a:rect r="r" b="b" t="t" l="l"/>
            <a:pathLst>
              <a:path h="1460176" w="4450242">
                <a:moveTo>
                  <a:pt x="0" y="0"/>
                </a:moveTo>
                <a:lnTo>
                  <a:pt x="4450242" y="0"/>
                </a:lnTo>
                <a:lnTo>
                  <a:pt x="4450242" y="1460176"/>
                </a:lnTo>
                <a:lnTo>
                  <a:pt x="0" y="1460176"/>
                </a:lnTo>
                <a:lnTo>
                  <a:pt x="0" y="0"/>
                </a:lnTo>
                <a:close/>
              </a:path>
            </a:pathLst>
          </a:custGeom>
          <a:blipFill>
            <a:blip r:embed="rId29"/>
            <a:stretch>
              <a:fillRect/>
            </a:stretch>
          </a:blipFill>
        </p:spPr>
      </p:sp>
      <p:sp>
        <p:nvSpPr>
          <p:cNvPr name="TextBox 148" id="148"/>
          <p:cNvSpPr txBox="true"/>
          <p:nvPr/>
        </p:nvSpPr>
        <p:spPr>
          <a:xfrm rot="0">
            <a:off x="1940708" y="-133993"/>
            <a:ext cx="25118244" cy="3275941"/>
          </a:xfrm>
          <a:prstGeom prst="rect">
            <a:avLst/>
          </a:prstGeom>
        </p:spPr>
        <p:txBody>
          <a:bodyPr anchor="t" rtlCol="false" tIns="0" lIns="0" bIns="0" rIns="0">
            <a:spAutoFit/>
          </a:bodyPr>
          <a:lstStyle/>
          <a:p>
            <a:pPr algn="ctr">
              <a:lnSpc>
                <a:spcPts val="13161"/>
              </a:lnSpc>
            </a:pPr>
            <a:r>
              <a:rPr lang="en-US" sz="9400">
                <a:solidFill>
                  <a:srgbClr val="FFF7F7"/>
                </a:solidFill>
                <a:latin typeface="Canva Sans"/>
                <a:ea typeface="Canva Sans"/>
                <a:cs typeface="Canva Sans"/>
                <a:sym typeface="Canva Sans"/>
              </a:rPr>
              <a:t>Physics-Informed Neural Networks</a:t>
            </a:r>
          </a:p>
          <a:p>
            <a:pPr algn="ctr">
              <a:lnSpc>
                <a:spcPts val="13161"/>
              </a:lnSpc>
              <a:spcBef>
                <a:spcPct val="0"/>
              </a:spcBef>
            </a:pPr>
            <a:r>
              <a:rPr lang="en-US" sz="9400">
                <a:solidFill>
                  <a:srgbClr val="FFF7F7"/>
                </a:solidFill>
                <a:latin typeface="Canva Sans"/>
                <a:ea typeface="Canva Sans"/>
                <a:cs typeface="Canva Sans"/>
                <a:sym typeface="Canva Sans"/>
              </a:rPr>
              <a:t>for Predictive Vehicle Control</a:t>
            </a:r>
          </a:p>
        </p:txBody>
      </p:sp>
      <p:sp>
        <p:nvSpPr>
          <p:cNvPr name="TextBox 149" id="149"/>
          <p:cNvSpPr txBox="true"/>
          <p:nvPr/>
        </p:nvSpPr>
        <p:spPr>
          <a:xfrm rot="0">
            <a:off x="5154354" y="14427544"/>
            <a:ext cx="9525" cy="537843"/>
          </a:xfrm>
          <a:prstGeom prst="rect">
            <a:avLst/>
          </a:prstGeom>
        </p:spPr>
        <p:txBody>
          <a:bodyPr anchor="t" rtlCol="false" tIns="0" lIns="0" bIns="0" rIns="0">
            <a:spAutoFit/>
          </a:bodyPr>
          <a:lstStyle/>
          <a:p>
            <a:pPr algn="ctr">
              <a:lnSpc>
                <a:spcPts val="4480"/>
              </a:lnSpc>
              <a:spcBef>
                <a:spcPct val="0"/>
              </a:spcBef>
            </a:pPr>
          </a:p>
        </p:txBody>
      </p:sp>
      <p:sp>
        <p:nvSpPr>
          <p:cNvPr name="TextBox 150" id="150"/>
          <p:cNvSpPr txBox="true"/>
          <p:nvPr/>
        </p:nvSpPr>
        <p:spPr>
          <a:xfrm rot="0">
            <a:off x="9966960" y="3427698"/>
            <a:ext cx="10789920" cy="1348739"/>
          </a:xfrm>
          <a:prstGeom prst="rect">
            <a:avLst/>
          </a:prstGeom>
        </p:spPr>
        <p:txBody>
          <a:bodyPr anchor="t" rtlCol="false" tIns="0" lIns="0" bIns="0" rIns="0">
            <a:spAutoFit/>
          </a:bodyPr>
          <a:lstStyle/>
          <a:p>
            <a:pPr algn="ctr">
              <a:lnSpc>
                <a:spcPts val="5460"/>
              </a:lnSpc>
            </a:pPr>
            <a:r>
              <a:rPr lang="en-US" sz="3900">
                <a:solidFill>
                  <a:srgbClr val="FFFFFF"/>
                </a:solidFill>
                <a:latin typeface="Canva Sans"/>
                <a:ea typeface="Canva Sans"/>
                <a:cs typeface="Canva Sans"/>
                <a:sym typeface="Canva Sans"/>
              </a:rPr>
              <a:t>MTHG103E</a:t>
            </a:r>
          </a:p>
          <a:p>
            <a:pPr algn="ctr">
              <a:lnSpc>
                <a:spcPts val="5460"/>
              </a:lnSpc>
              <a:spcBef>
                <a:spcPct val="0"/>
              </a:spcBef>
            </a:pPr>
            <a:r>
              <a:rPr lang="en-US" sz="3900">
                <a:solidFill>
                  <a:srgbClr val="FFFFFF"/>
                </a:solidFill>
                <a:latin typeface="Canva Sans"/>
                <a:ea typeface="Canva Sans"/>
                <a:cs typeface="Canva Sans"/>
                <a:sym typeface="Canva Sans"/>
              </a:rPr>
              <a:t>Supervised by Dr. Samah Tantawy</a:t>
            </a:r>
          </a:p>
        </p:txBody>
      </p:sp>
      <p:sp>
        <p:nvSpPr>
          <p:cNvPr name="TextBox 151" id="151"/>
          <p:cNvSpPr txBox="true"/>
          <p:nvPr/>
        </p:nvSpPr>
        <p:spPr>
          <a:xfrm rot="0">
            <a:off x="11445349" y="15539181"/>
            <a:ext cx="2922757" cy="389252"/>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Canva Sans Bold"/>
                <a:ea typeface="Canva Sans Bold"/>
                <a:cs typeface="Canva Sans Bold"/>
                <a:sym typeface="Canva Sans Bold"/>
              </a:rPr>
              <a:t>which is subject to:</a:t>
            </a:r>
          </a:p>
        </p:txBody>
      </p:sp>
      <p:pic>
        <p:nvPicPr>
          <p:cNvPr id="152" name="Picture 151" descr="image.png"/>
          <p:cNvPicPr>
            <a:picLocks noChangeAspect="1"/>
          </p:cNvPicPr>
          <p:nvPr/>
        </p:nvPicPr>
        <p:blipFill>
          <a:blip r:embed="rId37"/>
          <a:stretch>
            <a:fillRect/>
          </a:stretch>
        </p:blipFill>
        <p:spPr>
          <a:xfrm>
            <a:off x="21534120" y="30449519"/>
            <a:ext cx="7955279" cy="4297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DAGlqVUzomc</dc:identifier>
  <dcterms:modified xsi:type="dcterms:W3CDTF">2011-08-01T06:04:30Z</dcterms:modified>
  <cp:revision>1</cp:revision>
  <dc:title>Copy of Untitled</dc:title>
</cp:coreProperties>
</file>